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capital needs programmable objectives" id="{b85ab5bf-5e6c-d3fe-d5eb-c0fd1503a0e8}">
          <p14:sldIdLst>
            <p14:sldId id="256"/>
            <p14:sldId id="257"/>
            <p14:sldId id="258"/>
          </p14:sldIdLst>
        </p14:section>
        <p14:section name="How KRIYA turns a mandate into bounded autonomous execution" id="{5047b94c-982c-0165-267a-12080280365e}">
          <p14:sldIdLst>
            <p14:sldId id="259"/>
            <p14:sldId id="260"/>
            <p14:sldId id="261"/>
            <p14:sldId id="262"/>
          </p14:sldIdLst>
        </p14:section>
        <p14:section name="The working loop, live on Ethereum Sepolia" id="{7db8ad74-2760-c7bd-4601-083089448ad5}">
          <p14:sldIdLst>
            <p14:sldId id="263"/>
            <p14:sldId id="264"/>
            <p14:sldId id="265"/>
            <p14:sldId id="266"/>
          </p14:sldIdLst>
        </p14:section>
        <p14:section name="Why it matters and where it goes" id="{09473149-a24a-c28b-b116-2e172f2186e4}">
          <p14:sldIdLst>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program money transaction by transaction. KRIYA lets us program money around objectives. I'm going to show you capital that understands a goal, stays inside hard limits, and rebalances itself — live on Sepolia.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DeFi user is their own portfolio manager: find, compare, assess, execute, monitor, rebalance, exit — by hand. Bots automate fixed actions, not outcomes. The missing layer is combining AI reasoning, verifiable data and contract enforcement into one bounded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idea. Instead of programming the transaction, you program the outcome and the limits. KRIYA handles the loop; smart contracts make sure the loop can never step outside your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creates a mandate: capital, objective, risk limit, exposure cap, liquidity reserve, drawdown floor, allowed strategies, and whether KRIYA may rebalance on its own. That mandate becomes the control layer for the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separation of responsibilities is the design. Intent lives in the mandate contract. Intelligence proposes. Chainlink CRE checks external and onchain reality. The executor contract enforces. The vault moves capital, and only between itself and allowlisted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Chainlink CRE workflow. It observes the external risk feed with DON consensus, writes verified risk changes onchain, detects mandates at risk, asks Claude for a proposal, re-validates it with the same rules, and writes a signed rebalance report to the executor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must never directly control unrestricted funds. Even if the decision engine proposes something reckless, the executor contract reverts it. The user can pause the agent, pull everything back to the reserve, or withdraw at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live scenario. Initial allocation: B 40, A 35, reserve 25 — risk 21 of 40. Then we change reality: Strategy B's risk jumps from 34 to 48. The verified score breaks the mandate. KRIYA detects it, Claude decides, the workflow validates, and the contract rebalances: A 40, C 35, reserve 25 — risk 14, mandate restored. The user never chose a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product, live on Sepolia, captured right after an autonomous rebalance. Strategy C's verified risk jumped to 45, over the mandate's limit of 40. The loop verified it onchain, Claude decided to exit C, the policy check passed, and the executor rebalanced: portfolio risk is now 9 of 40. Every step in the pipeline links to its transaction, and the stage bar shows the demo is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onchain. The mandate; the unsafe proposal that reverted; then the Chainlink CRE workflow: it verified Strategy B's risk jump, Claude proposed the rebalance, the workflow re-checked it, and the signed report executed through the forwarder. The executor logs that execution with source CRE. Click any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one polished vertical slice rather than five disconnected integrations: contracts with 23 tests including fuzzing, the Chainlink CRE workflow, a Claude decision engine whose output is always validated, and a live app on Vercel against Sepolia.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KRIYA is not a bot, a dashboard or a chatbot. The primitive is the programmable objective: the user states the outcome, and the protocol keeps capital pointed at it inside hard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primitive scales up: treasuries, protocol-owned liquidity, agents paying for research with x402, routing across chains, and eventually capital allocated between autonomous agents. As agents act independently, capital management is the missing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KRIYA is a solo build. I designed and built every layer: the contracts and their tests, the Chainlink CRE workflow, the Claude decision engine with its shared policy, and the live app on Sepolia.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didn't tell KRIYA what transaction to make. They told KRIYA what outcome they wanted. KRIYA turns capital from something humans operate into something humans can program.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RIYA Dark">
    <p:bg>
      <p:bgPr>
        <a:solidFill>
          <a:srgbClr val="0B0F1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1117600"/>
            <a:ext cx="10566400" cy="1143000"/>
          </a:xfrm>
          <a:prstGeom prst="rect">
            <a:avLst/>
          </a:prstGeom>
          <a:noFill/>
          <a:ln/>
        </p:spPr>
        <p:txBody>
          <a:bodyPr wrap="square" rtlCol="0"/>
          <a:lstStyle>
            <a:lvl1pPr algn="l" indent="0" marL="0">
              <a:buNone/>
              <a:defRPr lang="en-US" sz="3600" b="1" dirty="0">
                <a:solidFill>
                  <a:srgbClr val="EEF2F6"/>
                </a:solidFill>
              </a:defRPr>
            </a:lvl1pPr>
          </a:lstStyle>
          <a:p>
            <a:pPr algn="l" indent="0" marL="0">
              <a:buNone/>
            </a:pPr>
            <a:r>
              <a:rPr lang="en-US" sz="3600" b="1" dirty="0">
                <a:solidFill>
                  <a:srgbClr val="EEF2F6"/>
                </a:solidFill>
              </a:rPr>
              <a:t>Title</a:t>
            </a: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RIYA Light">
    <p:bg>
      <p:bgPr>
        <a:solidFill>
          <a:srgbClr val="F3F5F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1117600"/>
            <a:ext cx="10566400" cy="114300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r>
              <a:rPr lang="en-US" sz="3600" b="1" dirty="0">
                <a:solidFill>
                  <a:schemeClr val="tx2"/>
                </a:solidFill>
              </a:rPr>
              <a:t>Title</a:t>
            </a: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RIYA Dark Blank">
    <p:bg>
      <p:bgPr>
        <a:solidFill>
          <a:srgbClr val="0B0F14"/>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RIYA Light Blank">
    <p:bg>
      <p:bgPr>
        <a:solidFill>
          <a:srgbClr val="F3F5F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sepolia.etherscan.io/tx/0x7b0fd91db394dd1156e0c37d1383eb5752e39e444f4458a822a6e9e4601b554f" TargetMode="External"/><Relationship Id="rId2" Type="http://schemas.openxmlformats.org/officeDocument/2006/relationships/hyperlink" Target="https://sepolia.etherscan.io/tx/0x6eee86fd1dd39e1c9f939d4e04c92bc1d477eecec828c89553fcfe4eba3077b9" TargetMode="External"/><Relationship Id="rId3" Type="http://schemas.openxmlformats.org/officeDocument/2006/relationships/hyperlink" Target="https://sepolia.etherscan.io/tx/0x66deb846f9d9a4d33b2a5a6ff6635a5c1b9692064479274e7eac8cd1498136b9" TargetMode="External"/><Relationship Id="rId4" Type="http://schemas.openxmlformats.org/officeDocument/2006/relationships/hyperlink" Target="https://sepolia.etherscan.io/tx/0x2d8a4366bf67a6f5e7a9f7ce6b3aff2556921ba8c22e0c7af91b914a983441d5" TargetMode="External"/><Relationship Id="rId5" Type="http://schemas.openxmlformats.org/officeDocument/2006/relationships/hyperlink" Target="https://sepolia.etherscan.io/tx/0xd4fc8b94dba0810391055ffa6fee49c8034c50d26f54b8c66234ba2fe46db59f" TargetMode="External"/><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kriya-beta.vercel.app" TargetMode="External"/><Relationship Id="rId2" Type="http://schemas.openxmlformats.org/officeDocument/2006/relationships/hyperlink" Target="https://github.com/Saurabhnage/kriya" TargetMode="External"/><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Glow"/>
          <p:cNvSpPr/>
          <p:nvPr/>
        </p:nvSpPr>
        <p:spPr>
          <a:xfrm>
            <a:off x="7302500" y="-2667000"/>
            <a:ext cx="7937500" cy="6350000"/>
          </a:xfrm>
          <a:prstGeom prst="ellipse">
            <a:avLst/>
          </a:prstGeom>
          <a:solidFill>
            <a:srgbClr val="13324A">
              <a:alpha val="65000"/>
            </a:srgbClr>
          </a:solidFill>
          <a:ln/>
        </p:spPr>
      </p:sp>
      <p:sp>
        <p:nvSpPr>
          <p:cNvPr id="3" name="Eyebrow"/>
          <p:cNvSpPr txBox="1"/>
          <p:nvPr/>
        </p:nvSpPr>
        <p:spPr>
          <a:xfrm>
            <a:off x="812800" y="1905000"/>
            <a:ext cx="10566400" cy="228600"/>
          </a:xfrm>
          <a:prstGeom prst="rect">
            <a:avLst/>
          </a:prstGeom>
          <a:noFill/>
          <a:ln/>
        </p:spPr>
        <p:txBody>
          <a:bodyPr wrap="square" lIns="0" tIns="0" rIns="0" bIns="0" rtlCol="0" anchor="t"/>
          <a:lstStyle/>
          <a:p>
            <a:pPr algn="l" indent="0" marL="0">
              <a:buNone/>
            </a:pPr>
            <a:r>
              <a:rPr lang="en-US" sz="1200" spc="150" kern="0" dirty="0">
                <a:solidFill>
                  <a:schemeClr val="accent1"/>
                </a:solidFill>
                <a:latin typeface="Courier New" pitchFamily="34" charset="0"/>
                <a:ea typeface="Courier New" pitchFamily="34" charset="-122"/>
                <a:cs typeface="Courier New" pitchFamily="34" charset="-120"/>
              </a:rPr>
              <a:t>TOKEN2049 ORIGINS · CHAINLINK CRE</a:t>
            </a:r>
            <a:endParaRPr lang="en-US" sz="1200" dirty="0"/>
          </a:p>
        </p:txBody>
      </p:sp>
      <p:sp>
        <p:nvSpPr>
          <p:cNvPr id="4" name="Wordmark"/>
          <p:cNvSpPr txBox="1"/>
          <p:nvPr/>
        </p:nvSpPr>
        <p:spPr>
          <a:xfrm>
            <a:off x="812800" y="2222500"/>
            <a:ext cx="10566400" cy="1460500"/>
          </a:xfrm>
          <a:prstGeom prst="rect">
            <a:avLst/>
          </a:prstGeom>
          <a:noFill/>
          <a:ln/>
        </p:spPr>
        <p:txBody>
          <a:bodyPr wrap="square" lIns="0" tIns="0" rIns="0" bIns="0" rtlCol="0" anchor="t"/>
          <a:lstStyle/>
          <a:p>
            <a:pPr algn="l" indent="0" marL="0">
              <a:buNone/>
            </a:pPr>
            <a:r>
              <a:rPr lang="en-US" sz="10000" b="1" spc="2400" kern="0" dirty="0">
                <a:solidFill>
                  <a:srgbClr val="EEF2F6"/>
                </a:solidFill>
              </a:rPr>
              <a:t>KRIYA</a:t>
            </a:r>
            <a:endParaRPr lang="en-US" sz="10000" dirty="0"/>
          </a:p>
        </p:txBody>
      </p:sp>
      <p:sp>
        <p:nvSpPr>
          <p:cNvPr id="5" name="Tagline"/>
          <p:cNvSpPr txBox="1"/>
          <p:nvPr/>
        </p:nvSpPr>
        <p:spPr>
          <a:xfrm>
            <a:off x="812800" y="3873500"/>
            <a:ext cx="9207500" cy="952500"/>
          </a:xfrm>
          <a:prstGeom prst="rect">
            <a:avLst/>
          </a:prstGeom>
          <a:noFill/>
          <a:ln/>
        </p:spPr>
        <p:txBody>
          <a:bodyPr wrap="square" lIns="0" tIns="0" rIns="0" bIns="0" rtlCol="0" anchor="t"/>
          <a:lstStyle/>
          <a:p>
            <a:pPr algn="l" indent="0" marL="0">
              <a:lnSpc>
                <a:spcPct val="115000"/>
              </a:lnSpc>
              <a:buNone/>
            </a:pPr>
            <a:r>
              <a:rPr lang="en-US" sz="2200" dirty="0">
                <a:solidFill>
                  <a:srgbClr val="C9D3DF"/>
                </a:solidFill>
              </a:rPr>
              <a:t>Autonomous Capital Protocol. Stop programming transactions. </a:t>
            </a:r>
            <a:pPr algn="l" indent="0" marL="0">
              <a:lnSpc>
                <a:spcPct val="115000"/>
              </a:lnSpc>
              <a:buNone/>
            </a:pPr>
            <a:r>
              <a:rPr lang="en-US" sz="2200" dirty="0">
                <a:solidFill>
                  <a:srgbClr val="7CF7C4"/>
                </a:solidFill>
              </a:rPr>
              <a:t>Start programming financial objectives.</a:t>
            </a:r>
            <a:endParaRPr lang="en-US" sz="2200" dirty="0"/>
          </a:p>
        </p:txBody>
      </p:sp>
      <p:sp>
        <p:nvSpPr>
          <p:cNvPr id="6" name="Footer"/>
          <p:cNvSpPr txBox="1"/>
          <p:nvPr/>
        </p:nvSpPr>
        <p:spPr>
          <a:xfrm>
            <a:off x="812800" y="6045200"/>
            <a:ext cx="10566400" cy="254000"/>
          </a:xfrm>
          <a:prstGeom prst="rect">
            <a:avLst/>
          </a:prstGeom>
          <a:noFill/>
          <a:ln/>
        </p:spPr>
        <p:txBody>
          <a:bodyPr wrap="square" lIns="0" tIns="0" rIns="0" bIns="0" rtlCol="0" anchor="t"/>
          <a:lstStyle/>
          <a:p>
            <a:pPr algn="l" indent="0" marL="0">
              <a:buNone/>
            </a:pPr>
            <a:r>
              <a:rPr lang="en-US" sz="1200" dirty="0">
                <a:solidFill>
                  <a:srgbClr val="9AA8BA"/>
                </a:solidFill>
                <a:latin typeface="Courier New" pitchFamily="34" charset="0"/>
                <a:ea typeface="Courier New" pitchFamily="34" charset="-122"/>
                <a:cs typeface="Courier New" pitchFamily="34" charset="-120"/>
              </a:rPr>
              <a:t>kriya-beta.vercel.app · github.com/Saurabhnage/kriya · Live on Ethereum Sepolia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812800" y="812800"/>
            <a:ext cx="10566400" cy="228600"/>
          </a:xfrm>
          <a:prstGeom prst="rect">
            <a:avLst/>
          </a:prstGeom>
          <a:noFill/>
          <a:ln/>
        </p:spPr>
        <p:txBody>
          <a:bodyPr wrap="square" lIns="0" tIns="0" rIns="0" bIns="0" rtlCol="0" anchor="t"/>
          <a:lstStyle/>
          <a:p>
            <a:pPr algn="l" indent="0" marL="0">
              <a:buNone/>
            </a:pPr>
            <a:r>
              <a:rPr lang="en-US" sz="1200" spc="150" kern="0" dirty="0">
                <a:solidFill>
                  <a:schemeClr val="accent5"/>
                </a:solidFill>
                <a:latin typeface="Courier New" pitchFamily="34" charset="0"/>
                <a:ea typeface="Courier New" pitchFamily="34" charset="-122"/>
                <a:cs typeface="Courier New" pitchFamily="34" charset="-120"/>
              </a:rPr>
              <a:t>THE PROBLEM</a:t>
            </a:r>
            <a:endParaRPr lang="en-US" sz="1200" dirty="0"/>
          </a:p>
        </p:txBody>
      </p:sp>
      <p:sp>
        <p:nvSpPr>
          <p:cNvPr id="3" name="Text 0"/>
          <p:cNvSpPr/>
          <p:nvPr>
            <p:ph idx="100" type="title" hasCustomPrompt="1"/>
          </p:nvPr>
        </p:nvSpPr>
        <p:spPr>
          <a:xfrm>
            <a:off x="812800" y="1117600"/>
            <a:ext cx="10566400" cy="1143000"/>
          </a:xfrm>
          <a:prstGeom prst="rect">
            <a:avLst/>
          </a:prstGeom>
          <a:noFill/>
          <a:ln/>
        </p:spPr>
        <p:txBody>
          <a:bodyPr wrap="square" lIns="0" tIns="0" rIns="0" bIns="0" rtlCol="0" anchor="t"/>
          <a:lstStyle/>
          <a:p>
            <a:pPr algn="l" indent="0" marL="0">
              <a:buNone/>
            </a:pPr>
            <a:r>
              <a:rPr lang="en-US" sz="3600" b="1" dirty="0">
                <a:solidFill>
                  <a:schemeClr val="tx2"/>
                </a:solidFill>
              </a:rPr>
              <a:t>Onchain capital still makes you decide every transaction yourself</a:t>
            </a:r>
            <a:endParaRPr lang="en-US" sz="3600" dirty="0"/>
          </a:p>
        </p:txBody>
      </p:sp>
      <p:sp>
        <p:nvSpPr>
          <p:cNvPr id="4" name="Step 1"/>
          <p:cNvSpPr/>
          <p:nvPr/>
        </p:nvSpPr>
        <p:spPr>
          <a:xfrm>
            <a:off x="812800" y="2667000"/>
            <a:ext cx="1422400" cy="952500"/>
          </a:xfrm>
          <a:prstGeom prst="roundRect">
            <a:avLst>
              <a:gd name="adj" fmla="val 10667"/>
            </a:avLst>
          </a:prstGeom>
          <a:solidFill>
            <a:srgbClr val="FFFFFF"/>
          </a:solidFill>
          <a:ln w="9525">
            <a:solidFill>
              <a:srgbClr val="D9DED8"/>
            </a:solidFill>
            <a:prstDash val="solid"/>
          </a:ln>
        </p:spPr>
      </p:sp>
      <p:sp>
        <p:nvSpPr>
          <p:cNvPr id="5" name="Step 1 number"/>
          <p:cNvSpPr txBox="1"/>
          <p:nvPr/>
        </p:nvSpPr>
        <p:spPr>
          <a:xfrm>
            <a:off x="965200" y="2819400"/>
            <a:ext cx="1117600" cy="203200"/>
          </a:xfrm>
          <a:prstGeom prst="rect">
            <a:avLst/>
          </a:prstGeom>
          <a:noFill/>
          <a:ln/>
        </p:spPr>
        <p:txBody>
          <a:bodyPr wrap="square" lIns="0" tIns="0" rIns="0" bIns="0" rtlCol="0" anchor="t"/>
          <a:lstStyle/>
          <a:p>
            <a:pPr algn="l" indent="0" marL="0">
              <a:buNone/>
            </a:pPr>
            <a:r>
              <a:rPr lang="en-US" sz="1200" dirty="0">
                <a:solidFill>
                  <a:schemeClr val="accent5"/>
                </a:solidFill>
                <a:latin typeface="Courier New" pitchFamily="34" charset="0"/>
                <a:ea typeface="Courier New" pitchFamily="34" charset="-122"/>
                <a:cs typeface="Courier New" pitchFamily="34" charset="-120"/>
              </a:rPr>
              <a:t>01</a:t>
            </a:r>
            <a:endParaRPr lang="en-US" sz="1200" dirty="0"/>
          </a:p>
        </p:txBody>
      </p:sp>
      <p:sp>
        <p:nvSpPr>
          <p:cNvPr id="6" name="Step 1 label"/>
          <p:cNvSpPr txBox="1"/>
          <p:nvPr/>
        </p:nvSpPr>
        <p:spPr>
          <a:xfrm>
            <a:off x="965200" y="3149600"/>
            <a:ext cx="1117600" cy="330200"/>
          </a:xfrm>
          <a:prstGeom prst="rect">
            <a:avLst/>
          </a:prstGeom>
          <a:noFill/>
          <a:ln/>
        </p:spPr>
        <p:txBody>
          <a:bodyPr wrap="square" lIns="0" tIns="0" rIns="0" bIns="0" rtlCol="0" anchor="t"/>
          <a:lstStyle/>
          <a:p>
            <a:pPr algn="l" indent="0" marL="0">
              <a:buNone/>
            </a:pPr>
            <a:r>
              <a:rPr lang="en-US" sz="1400" b="1" dirty="0">
                <a:solidFill>
                  <a:schemeClr val="tx2"/>
                </a:solidFill>
              </a:rPr>
              <a:t>Find</a:t>
            </a:r>
            <a:endParaRPr lang="en-US" sz="1400" dirty="0"/>
          </a:p>
        </p:txBody>
      </p:sp>
      <p:sp>
        <p:nvSpPr>
          <p:cNvPr id="7" name="Step 2"/>
          <p:cNvSpPr/>
          <p:nvPr/>
        </p:nvSpPr>
        <p:spPr>
          <a:xfrm>
            <a:off x="2336800" y="2667000"/>
            <a:ext cx="1422400" cy="952500"/>
          </a:xfrm>
          <a:prstGeom prst="roundRect">
            <a:avLst>
              <a:gd name="adj" fmla="val 10667"/>
            </a:avLst>
          </a:prstGeom>
          <a:solidFill>
            <a:srgbClr val="FFFFFF"/>
          </a:solidFill>
          <a:ln w="9525">
            <a:solidFill>
              <a:srgbClr val="D9DED8"/>
            </a:solidFill>
            <a:prstDash val="solid"/>
          </a:ln>
        </p:spPr>
      </p:sp>
      <p:sp>
        <p:nvSpPr>
          <p:cNvPr id="8" name="Step 2 number"/>
          <p:cNvSpPr txBox="1"/>
          <p:nvPr/>
        </p:nvSpPr>
        <p:spPr>
          <a:xfrm>
            <a:off x="2489200" y="2819400"/>
            <a:ext cx="1117600" cy="203200"/>
          </a:xfrm>
          <a:prstGeom prst="rect">
            <a:avLst/>
          </a:prstGeom>
          <a:noFill/>
          <a:ln/>
        </p:spPr>
        <p:txBody>
          <a:bodyPr wrap="square" lIns="0" tIns="0" rIns="0" bIns="0" rtlCol="0" anchor="t"/>
          <a:lstStyle/>
          <a:p>
            <a:pPr algn="l" indent="0" marL="0">
              <a:buNone/>
            </a:pPr>
            <a:r>
              <a:rPr lang="en-US" sz="1200" dirty="0">
                <a:solidFill>
                  <a:schemeClr val="accent5"/>
                </a:solidFill>
                <a:latin typeface="Courier New" pitchFamily="34" charset="0"/>
                <a:ea typeface="Courier New" pitchFamily="34" charset="-122"/>
                <a:cs typeface="Courier New" pitchFamily="34" charset="-120"/>
              </a:rPr>
              <a:t>02</a:t>
            </a:r>
            <a:endParaRPr lang="en-US" sz="1200" dirty="0"/>
          </a:p>
        </p:txBody>
      </p:sp>
      <p:sp>
        <p:nvSpPr>
          <p:cNvPr id="9" name="Step 2 label"/>
          <p:cNvSpPr txBox="1"/>
          <p:nvPr/>
        </p:nvSpPr>
        <p:spPr>
          <a:xfrm>
            <a:off x="2489200" y="3149600"/>
            <a:ext cx="1117600" cy="330200"/>
          </a:xfrm>
          <a:prstGeom prst="rect">
            <a:avLst/>
          </a:prstGeom>
          <a:noFill/>
          <a:ln/>
        </p:spPr>
        <p:txBody>
          <a:bodyPr wrap="square" lIns="0" tIns="0" rIns="0" bIns="0" rtlCol="0" anchor="t"/>
          <a:lstStyle/>
          <a:p>
            <a:pPr algn="l" indent="0" marL="0">
              <a:buNone/>
            </a:pPr>
            <a:r>
              <a:rPr lang="en-US" sz="1400" b="1" dirty="0">
                <a:solidFill>
                  <a:schemeClr val="tx2"/>
                </a:solidFill>
              </a:rPr>
              <a:t>Compare</a:t>
            </a:r>
            <a:endParaRPr lang="en-US" sz="1400" dirty="0"/>
          </a:p>
        </p:txBody>
      </p:sp>
      <p:sp>
        <p:nvSpPr>
          <p:cNvPr id="10" name="Step 3"/>
          <p:cNvSpPr/>
          <p:nvPr/>
        </p:nvSpPr>
        <p:spPr>
          <a:xfrm>
            <a:off x="3860800" y="2667000"/>
            <a:ext cx="1422400" cy="952500"/>
          </a:xfrm>
          <a:prstGeom prst="roundRect">
            <a:avLst>
              <a:gd name="adj" fmla="val 10667"/>
            </a:avLst>
          </a:prstGeom>
          <a:solidFill>
            <a:srgbClr val="FFFFFF"/>
          </a:solidFill>
          <a:ln w="9525">
            <a:solidFill>
              <a:srgbClr val="D9DED8"/>
            </a:solidFill>
            <a:prstDash val="solid"/>
          </a:ln>
        </p:spPr>
      </p:sp>
      <p:sp>
        <p:nvSpPr>
          <p:cNvPr id="11" name="Step 3 number"/>
          <p:cNvSpPr txBox="1"/>
          <p:nvPr/>
        </p:nvSpPr>
        <p:spPr>
          <a:xfrm>
            <a:off x="4013200" y="2819400"/>
            <a:ext cx="1117600" cy="203200"/>
          </a:xfrm>
          <a:prstGeom prst="rect">
            <a:avLst/>
          </a:prstGeom>
          <a:noFill/>
          <a:ln/>
        </p:spPr>
        <p:txBody>
          <a:bodyPr wrap="square" lIns="0" tIns="0" rIns="0" bIns="0" rtlCol="0" anchor="t"/>
          <a:lstStyle/>
          <a:p>
            <a:pPr algn="l" indent="0" marL="0">
              <a:buNone/>
            </a:pPr>
            <a:r>
              <a:rPr lang="en-US" sz="1200" dirty="0">
                <a:solidFill>
                  <a:schemeClr val="accent5"/>
                </a:solidFill>
                <a:latin typeface="Courier New" pitchFamily="34" charset="0"/>
                <a:ea typeface="Courier New" pitchFamily="34" charset="-122"/>
                <a:cs typeface="Courier New" pitchFamily="34" charset="-120"/>
              </a:rPr>
              <a:t>03</a:t>
            </a:r>
            <a:endParaRPr lang="en-US" sz="1200" dirty="0"/>
          </a:p>
        </p:txBody>
      </p:sp>
      <p:sp>
        <p:nvSpPr>
          <p:cNvPr id="12" name="Step 3 label"/>
          <p:cNvSpPr txBox="1"/>
          <p:nvPr/>
        </p:nvSpPr>
        <p:spPr>
          <a:xfrm>
            <a:off x="4013200" y="3149600"/>
            <a:ext cx="1117600" cy="330200"/>
          </a:xfrm>
          <a:prstGeom prst="rect">
            <a:avLst/>
          </a:prstGeom>
          <a:noFill/>
          <a:ln/>
        </p:spPr>
        <p:txBody>
          <a:bodyPr wrap="square" lIns="0" tIns="0" rIns="0" bIns="0" rtlCol="0" anchor="t"/>
          <a:lstStyle/>
          <a:p>
            <a:pPr algn="l" indent="0" marL="0">
              <a:buNone/>
            </a:pPr>
            <a:r>
              <a:rPr lang="en-US" sz="1400" b="1" dirty="0">
                <a:solidFill>
                  <a:schemeClr val="tx2"/>
                </a:solidFill>
              </a:rPr>
              <a:t>Assess risk</a:t>
            </a:r>
            <a:endParaRPr lang="en-US" sz="1400" dirty="0"/>
          </a:p>
        </p:txBody>
      </p:sp>
      <p:sp>
        <p:nvSpPr>
          <p:cNvPr id="13" name="Step 4"/>
          <p:cNvSpPr/>
          <p:nvPr/>
        </p:nvSpPr>
        <p:spPr>
          <a:xfrm>
            <a:off x="5384800" y="2667000"/>
            <a:ext cx="1422400" cy="952500"/>
          </a:xfrm>
          <a:prstGeom prst="roundRect">
            <a:avLst>
              <a:gd name="adj" fmla="val 10667"/>
            </a:avLst>
          </a:prstGeom>
          <a:solidFill>
            <a:srgbClr val="FFFFFF"/>
          </a:solidFill>
          <a:ln w="9525">
            <a:solidFill>
              <a:srgbClr val="D9DED8"/>
            </a:solidFill>
            <a:prstDash val="solid"/>
          </a:ln>
        </p:spPr>
      </p:sp>
      <p:sp>
        <p:nvSpPr>
          <p:cNvPr id="14" name="Step 4 number"/>
          <p:cNvSpPr txBox="1"/>
          <p:nvPr/>
        </p:nvSpPr>
        <p:spPr>
          <a:xfrm>
            <a:off x="5537200" y="2819400"/>
            <a:ext cx="1117600" cy="203200"/>
          </a:xfrm>
          <a:prstGeom prst="rect">
            <a:avLst/>
          </a:prstGeom>
          <a:noFill/>
          <a:ln/>
        </p:spPr>
        <p:txBody>
          <a:bodyPr wrap="square" lIns="0" tIns="0" rIns="0" bIns="0" rtlCol="0" anchor="t"/>
          <a:lstStyle/>
          <a:p>
            <a:pPr algn="l" indent="0" marL="0">
              <a:buNone/>
            </a:pPr>
            <a:r>
              <a:rPr lang="en-US" sz="1200" dirty="0">
                <a:solidFill>
                  <a:schemeClr val="accent5"/>
                </a:solidFill>
                <a:latin typeface="Courier New" pitchFamily="34" charset="0"/>
                <a:ea typeface="Courier New" pitchFamily="34" charset="-122"/>
                <a:cs typeface="Courier New" pitchFamily="34" charset="-120"/>
              </a:rPr>
              <a:t>04</a:t>
            </a:r>
            <a:endParaRPr lang="en-US" sz="1200" dirty="0"/>
          </a:p>
        </p:txBody>
      </p:sp>
      <p:sp>
        <p:nvSpPr>
          <p:cNvPr id="15" name="Step 4 label"/>
          <p:cNvSpPr txBox="1"/>
          <p:nvPr/>
        </p:nvSpPr>
        <p:spPr>
          <a:xfrm>
            <a:off x="5537200" y="3149600"/>
            <a:ext cx="1117600" cy="330200"/>
          </a:xfrm>
          <a:prstGeom prst="rect">
            <a:avLst/>
          </a:prstGeom>
          <a:noFill/>
          <a:ln/>
        </p:spPr>
        <p:txBody>
          <a:bodyPr wrap="square" lIns="0" tIns="0" rIns="0" bIns="0" rtlCol="0" anchor="t"/>
          <a:lstStyle/>
          <a:p>
            <a:pPr algn="l" indent="0" marL="0">
              <a:buNone/>
            </a:pPr>
            <a:r>
              <a:rPr lang="en-US" sz="1400" b="1" dirty="0">
                <a:solidFill>
                  <a:schemeClr val="tx2"/>
                </a:solidFill>
              </a:rPr>
              <a:t>Execute</a:t>
            </a:r>
            <a:endParaRPr lang="en-US" sz="1400" dirty="0"/>
          </a:p>
        </p:txBody>
      </p:sp>
      <p:sp>
        <p:nvSpPr>
          <p:cNvPr id="16" name="Step 5"/>
          <p:cNvSpPr/>
          <p:nvPr/>
        </p:nvSpPr>
        <p:spPr>
          <a:xfrm>
            <a:off x="6908800" y="2667000"/>
            <a:ext cx="1422400" cy="952500"/>
          </a:xfrm>
          <a:prstGeom prst="roundRect">
            <a:avLst>
              <a:gd name="adj" fmla="val 10667"/>
            </a:avLst>
          </a:prstGeom>
          <a:solidFill>
            <a:srgbClr val="FFFFFF"/>
          </a:solidFill>
          <a:ln w="9525">
            <a:solidFill>
              <a:srgbClr val="D9DED8"/>
            </a:solidFill>
            <a:prstDash val="solid"/>
          </a:ln>
        </p:spPr>
      </p:sp>
      <p:sp>
        <p:nvSpPr>
          <p:cNvPr id="17" name="Step 5 number"/>
          <p:cNvSpPr txBox="1"/>
          <p:nvPr/>
        </p:nvSpPr>
        <p:spPr>
          <a:xfrm>
            <a:off x="7061200" y="2819400"/>
            <a:ext cx="1117600" cy="203200"/>
          </a:xfrm>
          <a:prstGeom prst="rect">
            <a:avLst/>
          </a:prstGeom>
          <a:noFill/>
          <a:ln/>
        </p:spPr>
        <p:txBody>
          <a:bodyPr wrap="square" lIns="0" tIns="0" rIns="0" bIns="0" rtlCol="0" anchor="t"/>
          <a:lstStyle/>
          <a:p>
            <a:pPr algn="l" indent="0" marL="0">
              <a:buNone/>
            </a:pPr>
            <a:r>
              <a:rPr lang="en-US" sz="1200" dirty="0">
                <a:solidFill>
                  <a:schemeClr val="accent5"/>
                </a:solidFill>
                <a:latin typeface="Courier New" pitchFamily="34" charset="0"/>
                <a:ea typeface="Courier New" pitchFamily="34" charset="-122"/>
                <a:cs typeface="Courier New" pitchFamily="34" charset="-120"/>
              </a:rPr>
              <a:t>05</a:t>
            </a:r>
            <a:endParaRPr lang="en-US" sz="1200" dirty="0"/>
          </a:p>
        </p:txBody>
      </p:sp>
      <p:sp>
        <p:nvSpPr>
          <p:cNvPr id="18" name="Step 5 label"/>
          <p:cNvSpPr txBox="1"/>
          <p:nvPr/>
        </p:nvSpPr>
        <p:spPr>
          <a:xfrm>
            <a:off x="7061200" y="3149600"/>
            <a:ext cx="1117600" cy="330200"/>
          </a:xfrm>
          <a:prstGeom prst="rect">
            <a:avLst/>
          </a:prstGeom>
          <a:noFill/>
          <a:ln/>
        </p:spPr>
        <p:txBody>
          <a:bodyPr wrap="square" lIns="0" tIns="0" rIns="0" bIns="0" rtlCol="0" anchor="t"/>
          <a:lstStyle/>
          <a:p>
            <a:pPr algn="l" indent="0" marL="0">
              <a:buNone/>
            </a:pPr>
            <a:r>
              <a:rPr lang="en-US" sz="1400" b="1" dirty="0">
                <a:solidFill>
                  <a:schemeClr val="tx2"/>
                </a:solidFill>
              </a:rPr>
              <a:t>Monitor</a:t>
            </a:r>
            <a:endParaRPr lang="en-US" sz="1400" dirty="0"/>
          </a:p>
        </p:txBody>
      </p:sp>
      <p:sp>
        <p:nvSpPr>
          <p:cNvPr id="19" name="Step 6"/>
          <p:cNvSpPr/>
          <p:nvPr/>
        </p:nvSpPr>
        <p:spPr>
          <a:xfrm>
            <a:off x="8432800" y="2667000"/>
            <a:ext cx="1422400" cy="952500"/>
          </a:xfrm>
          <a:prstGeom prst="roundRect">
            <a:avLst>
              <a:gd name="adj" fmla="val 10667"/>
            </a:avLst>
          </a:prstGeom>
          <a:solidFill>
            <a:srgbClr val="FFFFFF"/>
          </a:solidFill>
          <a:ln w="9525">
            <a:solidFill>
              <a:srgbClr val="D9DED8"/>
            </a:solidFill>
            <a:prstDash val="solid"/>
          </a:ln>
        </p:spPr>
      </p:sp>
      <p:sp>
        <p:nvSpPr>
          <p:cNvPr id="20" name="Step 6 number"/>
          <p:cNvSpPr txBox="1"/>
          <p:nvPr/>
        </p:nvSpPr>
        <p:spPr>
          <a:xfrm>
            <a:off x="8585200" y="2819400"/>
            <a:ext cx="1117600" cy="203200"/>
          </a:xfrm>
          <a:prstGeom prst="rect">
            <a:avLst/>
          </a:prstGeom>
          <a:noFill/>
          <a:ln/>
        </p:spPr>
        <p:txBody>
          <a:bodyPr wrap="square" lIns="0" tIns="0" rIns="0" bIns="0" rtlCol="0" anchor="t"/>
          <a:lstStyle/>
          <a:p>
            <a:pPr algn="l" indent="0" marL="0">
              <a:buNone/>
            </a:pPr>
            <a:r>
              <a:rPr lang="en-US" sz="1200" dirty="0">
                <a:solidFill>
                  <a:schemeClr val="accent5"/>
                </a:solidFill>
                <a:latin typeface="Courier New" pitchFamily="34" charset="0"/>
                <a:ea typeface="Courier New" pitchFamily="34" charset="-122"/>
                <a:cs typeface="Courier New" pitchFamily="34" charset="-120"/>
              </a:rPr>
              <a:t>06</a:t>
            </a:r>
            <a:endParaRPr lang="en-US" sz="1200" dirty="0"/>
          </a:p>
        </p:txBody>
      </p:sp>
      <p:sp>
        <p:nvSpPr>
          <p:cNvPr id="21" name="Step 6 label"/>
          <p:cNvSpPr txBox="1"/>
          <p:nvPr/>
        </p:nvSpPr>
        <p:spPr>
          <a:xfrm>
            <a:off x="8585200" y="3149600"/>
            <a:ext cx="1117600" cy="330200"/>
          </a:xfrm>
          <a:prstGeom prst="rect">
            <a:avLst/>
          </a:prstGeom>
          <a:noFill/>
          <a:ln/>
        </p:spPr>
        <p:txBody>
          <a:bodyPr wrap="square" lIns="0" tIns="0" rIns="0" bIns="0" rtlCol="0" anchor="t"/>
          <a:lstStyle/>
          <a:p>
            <a:pPr algn="l" indent="0" marL="0">
              <a:buNone/>
            </a:pPr>
            <a:r>
              <a:rPr lang="en-US" sz="1400" b="1" dirty="0">
                <a:solidFill>
                  <a:schemeClr val="tx2"/>
                </a:solidFill>
              </a:rPr>
              <a:t>Rebalance</a:t>
            </a:r>
            <a:endParaRPr lang="en-US" sz="1400" dirty="0"/>
          </a:p>
        </p:txBody>
      </p:sp>
      <p:sp>
        <p:nvSpPr>
          <p:cNvPr id="22" name="Step 7"/>
          <p:cNvSpPr/>
          <p:nvPr/>
        </p:nvSpPr>
        <p:spPr>
          <a:xfrm>
            <a:off x="9956800" y="2667000"/>
            <a:ext cx="1422400" cy="952500"/>
          </a:xfrm>
          <a:prstGeom prst="roundRect">
            <a:avLst>
              <a:gd name="adj" fmla="val 10667"/>
            </a:avLst>
          </a:prstGeom>
          <a:solidFill>
            <a:srgbClr val="FFFFFF"/>
          </a:solidFill>
          <a:ln w="9525">
            <a:solidFill>
              <a:srgbClr val="D9DED8"/>
            </a:solidFill>
            <a:prstDash val="solid"/>
          </a:ln>
        </p:spPr>
      </p:sp>
      <p:sp>
        <p:nvSpPr>
          <p:cNvPr id="23" name="Step 7 number"/>
          <p:cNvSpPr txBox="1"/>
          <p:nvPr/>
        </p:nvSpPr>
        <p:spPr>
          <a:xfrm>
            <a:off x="10109200" y="2819400"/>
            <a:ext cx="1117600" cy="203200"/>
          </a:xfrm>
          <a:prstGeom prst="rect">
            <a:avLst/>
          </a:prstGeom>
          <a:noFill/>
          <a:ln/>
        </p:spPr>
        <p:txBody>
          <a:bodyPr wrap="square" lIns="0" tIns="0" rIns="0" bIns="0" rtlCol="0" anchor="t"/>
          <a:lstStyle/>
          <a:p>
            <a:pPr algn="l" indent="0" marL="0">
              <a:buNone/>
            </a:pPr>
            <a:r>
              <a:rPr lang="en-US" sz="1200" dirty="0">
                <a:solidFill>
                  <a:schemeClr val="accent5"/>
                </a:solidFill>
                <a:latin typeface="Courier New" pitchFamily="34" charset="0"/>
                <a:ea typeface="Courier New" pitchFamily="34" charset="-122"/>
                <a:cs typeface="Courier New" pitchFamily="34" charset="-120"/>
              </a:rPr>
              <a:t>07</a:t>
            </a:r>
            <a:endParaRPr lang="en-US" sz="1200" dirty="0"/>
          </a:p>
        </p:txBody>
      </p:sp>
      <p:sp>
        <p:nvSpPr>
          <p:cNvPr id="24" name="Step 7 label"/>
          <p:cNvSpPr txBox="1"/>
          <p:nvPr/>
        </p:nvSpPr>
        <p:spPr>
          <a:xfrm>
            <a:off x="10109200" y="3149600"/>
            <a:ext cx="1117600" cy="330200"/>
          </a:xfrm>
          <a:prstGeom prst="rect">
            <a:avLst/>
          </a:prstGeom>
          <a:noFill/>
          <a:ln/>
        </p:spPr>
        <p:txBody>
          <a:bodyPr wrap="square" lIns="0" tIns="0" rIns="0" bIns="0" rtlCol="0" anchor="t"/>
          <a:lstStyle/>
          <a:p>
            <a:pPr algn="l" indent="0" marL="0">
              <a:buNone/>
            </a:pPr>
            <a:r>
              <a:rPr lang="en-US" sz="1400" b="1" dirty="0">
                <a:solidFill>
                  <a:schemeClr val="tx2"/>
                </a:solidFill>
              </a:rPr>
              <a:t>Exit</a:t>
            </a:r>
            <a:endParaRPr lang="en-US" sz="1400" dirty="0"/>
          </a:p>
        </p:txBody>
      </p:sp>
      <p:sp>
        <p:nvSpPr>
          <p:cNvPr id="25" name="Gap"/>
          <p:cNvSpPr txBox="1"/>
          <p:nvPr/>
        </p:nvSpPr>
        <p:spPr>
          <a:xfrm>
            <a:off x="812800" y="4064000"/>
            <a:ext cx="9525000" cy="1143000"/>
          </a:xfrm>
          <a:prstGeom prst="rect">
            <a:avLst/>
          </a:prstGeom>
          <a:noFill/>
          <a:ln/>
        </p:spPr>
        <p:txBody>
          <a:bodyPr wrap="square" lIns="0" tIns="0" rIns="0" bIns="0" rtlCol="0" anchor="t"/>
          <a:lstStyle/>
          <a:p>
            <a:pPr algn="l" indent="0" marL="0">
              <a:lnSpc>
                <a:spcPct val="130000"/>
              </a:lnSpc>
              <a:buNone/>
            </a:pPr>
            <a:r>
              <a:rPr lang="en-US" sz="1600" dirty="0">
                <a:solidFill>
                  <a:srgbClr val="4A5568"/>
                </a:solidFill>
              </a:rPr>
              <a:t>Automation today runs </a:t>
            </a:r>
            <a:pPr algn="l" indent="0" marL="0">
              <a:lnSpc>
                <a:spcPct val="130000"/>
              </a:lnSpc>
              <a:buNone/>
            </a:pPr>
            <a:r>
              <a:rPr lang="en-US" sz="1600" b="1" dirty="0">
                <a:solidFill>
                  <a:srgbClr val="101820"/>
                </a:solidFill>
              </a:rPr>
              <a:t>predefined actions</a:t>
            </a:r>
            <a:pPr algn="l" indent="0" marL="0">
              <a:lnSpc>
                <a:spcPct val="130000"/>
              </a:lnSpc>
              <a:buNone/>
            </a:pPr>
            <a:r>
              <a:rPr lang="en-US" sz="1600" dirty="0">
                <a:solidFill>
                  <a:srgbClr val="4A5568"/>
                </a:solidFill>
              </a:rPr>
              <a:t>. AI can reason, contracts can enforce, oracles can verify — but nothing combines them into one bounded loop around a </a:t>
            </a:r>
            <a:pPr algn="l" indent="0" marL="0">
              <a:lnSpc>
                <a:spcPct val="130000"/>
              </a:lnSpc>
              <a:buNone/>
            </a:pPr>
            <a:r>
              <a:rPr lang="en-US" sz="1600" b="1" dirty="0">
                <a:solidFill>
                  <a:srgbClr val="101820"/>
                </a:solidFill>
              </a:rPr>
              <a:t>financial objective</a:t>
            </a:r>
            <a:pPr algn="l" indent="0" marL="0">
              <a:lnSpc>
                <a:spcPct val="130000"/>
              </a:lnSpc>
              <a:buNone/>
            </a:pPr>
            <a:r>
              <a:rPr lang="en-US" sz="1600" dirty="0">
                <a:solidFill>
                  <a:srgbClr val="4A5568"/>
                </a:solidFill>
              </a:rPr>
              <a: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7CF7C4"/>
        </a:solidFill>
      </p:bgPr>
    </p:bg>
    <p:spTree>
      <p:nvGrpSpPr>
        <p:cNvPr id="1" name=""/>
        <p:cNvGrpSpPr/>
        <p:nvPr/>
      </p:nvGrpSpPr>
      <p:grpSpPr>
        <a:xfrm>
          <a:off x="0" y="0"/>
          <a:ext cx="0" cy="0"/>
          <a:chOff x="0" y="0"/>
          <a:chExt cx="0" cy="0"/>
        </a:xfrm>
      </p:grpSpPr>
      <p:sp>
        <p:nvSpPr>
          <p:cNvPr id="2" name="Eyebrow"/>
          <p:cNvSpPr txBox="1"/>
          <p:nvPr/>
        </p:nvSpPr>
        <p:spPr>
          <a:xfrm>
            <a:off x="812800" y="1270000"/>
            <a:ext cx="10566400" cy="228600"/>
          </a:xfrm>
          <a:prstGeom prst="rect">
            <a:avLst/>
          </a:prstGeom>
          <a:noFill/>
          <a:ln/>
        </p:spPr>
        <p:txBody>
          <a:bodyPr wrap="square" lIns="0" tIns="0" rIns="0" bIns="0" rtlCol="0" anchor="t"/>
          <a:lstStyle/>
          <a:p>
            <a:pPr algn="l" indent="0" marL="0">
              <a:buNone/>
            </a:pPr>
            <a:r>
              <a:rPr lang="en-US" sz="1200" spc="150" kern="0" dirty="0">
                <a:solidFill>
                  <a:srgbClr val="0B3B2C"/>
                </a:solidFill>
                <a:latin typeface="Courier New" pitchFamily="34" charset="0"/>
                <a:ea typeface="Courier New" pitchFamily="34" charset="-122"/>
                <a:cs typeface="Courier New" pitchFamily="34" charset="-120"/>
              </a:rPr>
              <a:t>THE PRIMITIVE</a:t>
            </a:r>
            <a:endParaRPr lang="en-US" sz="1200" dirty="0"/>
          </a:p>
        </p:txBody>
      </p:sp>
      <p:sp>
        <p:nvSpPr>
          <p:cNvPr id="3" name="Primitive"/>
          <p:cNvSpPr txBox="1"/>
          <p:nvPr/>
        </p:nvSpPr>
        <p:spPr>
          <a:xfrm>
            <a:off x="812800" y="1587500"/>
            <a:ext cx="10566400" cy="1905000"/>
          </a:xfrm>
          <a:prstGeom prst="rect">
            <a:avLst/>
          </a:prstGeom>
          <a:noFill/>
          <a:ln/>
        </p:spPr>
        <p:txBody>
          <a:bodyPr wrap="square" lIns="0" tIns="0" rIns="0" bIns="0" rtlCol="0" anchor="t"/>
          <a:lstStyle/>
          <a:p>
            <a:pPr algn="l" indent="0" marL="0">
              <a:lnSpc>
                <a:spcPct val="95000"/>
              </a:lnSpc>
              <a:buNone/>
            </a:pPr>
            <a:r>
              <a:rPr lang="en-US" sz="6000" b="1" dirty="0">
                <a:solidFill>
                  <a:schemeClr val="tx1"/>
                </a:solidFill>
              </a:rPr>
              <a:t>Programmable Financial Objectives</a:t>
            </a:r>
            <a:endParaRPr lang="en-US" sz="6000" dirty="0"/>
          </a:p>
        </p:txBody>
      </p:sp>
      <p:sp>
        <p:nvSpPr>
          <p:cNvPr id="4" name="Flow 1"/>
          <p:cNvSpPr txBox="1"/>
          <p:nvPr/>
        </p:nvSpPr>
        <p:spPr>
          <a:xfrm>
            <a:off x="812800" y="3873500"/>
            <a:ext cx="1841500" cy="762000"/>
          </a:xfrm>
          <a:prstGeom prst="roundRect">
            <a:avLst>
              <a:gd name="adj" fmla="val 16667"/>
            </a:avLst>
          </a:prstGeom>
          <a:solidFill>
            <a:srgbClr val="0B0F14"/>
          </a:solidFill>
          <a:ln/>
        </p:spPr>
        <p:txBody>
          <a:bodyPr wrap="square" lIns="101600" tIns="101600" rIns="101600" bIns="101600" rtlCol="0" anchor="ctr"/>
          <a:lstStyle/>
          <a:p>
            <a:pPr algn="ctr" indent="0" marL="0">
              <a:buNone/>
            </a:pPr>
            <a:r>
              <a:rPr lang="en-US" sz="1500" b="1" dirty="0">
                <a:solidFill>
                  <a:srgbClr val="7CF7C4"/>
                </a:solidFill>
              </a:rPr>
              <a:t>Objective + constraints</a:t>
            </a:r>
            <a:endParaRPr lang="en-US" sz="1500" dirty="0"/>
          </a:p>
        </p:txBody>
      </p:sp>
      <p:sp>
        <p:nvSpPr>
          <p:cNvPr id="5" name="Flow arrow 1"/>
          <p:cNvSpPr/>
          <p:nvPr/>
        </p:nvSpPr>
        <p:spPr>
          <a:xfrm>
            <a:off x="2709863" y="4159250"/>
            <a:ext cx="228600" cy="190500"/>
          </a:xfrm>
          <a:prstGeom prst="rightArrow">
            <a:avLst/>
          </a:prstGeom>
          <a:solidFill>
            <a:srgbClr val="0B0F14"/>
          </a:solidFill>
          <a:ln/>
        </p:spPr>
      </p:sp>
      <p:sp>
        <p:nvSpPr>
          <p:cNvPr id="6" name="Flow 2"/>
          <p:cNvSpPr txBox="1"/>
          <p:nvPr/>
        </p:nvSpPr>
        <p:spPr>
          <a:xfrm>
            <a:off x="2994025" y="3873500"/>
            <a:ext cx="1841500" cy="762000"/>
          </a:xfrm>
          <a:prstGeom prst="roundRect">
            <a:avLst>
              <a:gd name="adj" fmla="val 16667"/>
            </a:avLst>
          </a:prstGeom>
          <a:noFill/>
          <a:ln w="9525">
            <a:solidFill>
              <a:srgbClr val="0B0F14"/>
            </a:solidFill>
          </a:ln>
        </p:spPr>
        <p:txBody>
          <a:bodyPr wrap="square" lIns="101600" tIns="101600" rIns="101600" bIns="101600" rtlCol="0" anchor="ctr"/>
          <a:lstStyle/>
          <a:p>
            <a:pPr algn="ctr" indent="0" marL="0">
              <a:buNone/>
            </a:pPr>
            <a:r>
              <a:rPr lang="en-US" sz="1500" b="1" dirty="0">
                <a:solidFill>
                  <a:srgbClr val="0B0F14"/>
                </a:solidFill>
              </a:rPr>
              <a:t>Decision</a:t>
            </a:r>
            <a:endParaRPr lang="en-US" sz="1500" dirty="0"/>
          </a:p>
        </p:txBody>
      </p:sp>
      <p:sp>
        <p:nvSpPr>
          <p:cNvPr id="7" name="Flow arrow 2"/>
          <p:cNvSpPr/>
          <p:nvPr/>
        </p:nvSpPr>
        <p:spPr>
          <a:xfrm>
            <a:off x="4891088" y="4159250"/>
            <a:ext cx="228600" cy="190500"/>
          </a:xfrm>
          <a:prstGeom prst="rightArrow">
            <a:avLst/>
          </a:prstGeom>
          <a:solidFill>
            <a:srgbClr val="0B0F14"/>
          </a:solidFill>
          <a:ln/>
        </p:spPr>
      </p:sp>
      <p:sp>
        <p:nvSpPr>
          <p:cNvPr id="8" name="Flow 3"/>
          <p:cNvSpPr txBox="1"/>
          <p:nvPr/>
        </p:nvSpPr>
        <p:spPr>
          <a:xfrm>
            <a:off x="5175250" y="3873500"/>
            <a:ext cx="1841500" cy="762000"/>
          </a:xfrm>
          <a:prstGeom prst="roundRect">
            <a:avLst>
              <a:gd name="adj" fmla="val 16667"/>
            </a:avLst>
          </a:prstGeom>
          <a:noFill/>
          <a:ln w="9525">
            <a:solidFill>
              <a:srgbClr val="0B0F14"/>
            </a:solidFill>
          </a:ln>
        </p:spPr>
        <p:txBody>
          <a:bodyPr wrap="square" lIns="101600" tIns="101600" rIns="101600" bIns="101600" rtlCol="0" anchor="ctr"/>
          <a:lstStyle/>
          <a:p>
            <a:pPr algn="ctr" indent="0" marL="0">
              <a:buNone/>
            </a:pPr>
            <a:r>
              <a:rPr lang="en-US" sz="1500" b="1" dirty="0">
                <a:solidFill>
                  <a:srgbClr val="0B0F14"/>
                </a:solidFill>
              </a:rPr>
              <a:t>Verification</a:t>
            </a:r>
            <a:endParaRPr lang="en-US" sz="1500" dirty="0"/>
          </a:p>
        </p:txBody>
      </p:sp>
      <p:sp>
        <p:nvSpPr>
          <p:cNvPr id="9" name="Flow arrow 3"/>
          <p:cNvSpPr/>
          <p:nvPr/>
        </p:nvSpPr>
        <p:spPr>
          <a:xfrm>
            <a:off x="7072313" y="4159250"/>
            <a:ext cx="228600" cy="190500"/>
          </a:xfrm>
          <a:prstGeom prst="rightArrow">
            <a:avLst/>
          </a:prstGeom>
          <a:solidFill>
            <a:srgbClr val="0B0F14"/>
          </a:solidFill>
          <a:ln/>
        </p:spPr>
      </p:sp>
      <p:sp>
        <p:nvSpPr>
          <p:cNvPr id="10" name="Flow 4"/>
          <p:cNvSpPr txBox="1"/>
          <p:nvPr/>
        </p:nvSpPr>
        <p:spPr>
          <a:xfrm>
            <a:off x="7356475" y="3873500"/>
            <a:ext cx="1841500" cy="762000"/>
          </a:xfrm>
          <a:prstGeom prst="roundRect">
            <a:avLst>
              <a:gd name="adj" fmla="val 16667"/>
            </a:avLst>
          </a:prstGeom>
          <a:noFill/>
          <a:ln w="9525">
            <a:solidFill>
              <a:srgbClr val="0B0F14"/>
            </a:solidFill>
          </a:ln>
        </p:spPr>
        <p:txBody>
          <a:bodyPr wrap="square" lIns="101600" tIns="101600" rIns="101600" bIns="101600" rtlCol="0" anchor="ctr"/>
          <a:lstStyle/>
          <a:p>
            <a:pPr algn="ctr" indent="0" marL="0">
              <a:buNone/>
            </a:pPr>
            <a:r>
              <a:rPr lang="en-US" sz="1500" b="1" dirty="0">
                <a:solidFill>
                  <a:srgbClr val="0B0F14"/>
                </a:solidFill>
              </a:rPr>
              <a:t>Enforcement</a:t>
            </a:r>
            <a:endParaRPr lang="en-US" sz="1500" dirty="0"/>
          </a:p>
        </p:txBody>
      </p:sp>
      <p:sp>
        <p:nvSpPr>
          <p:cNvPr id="11" name="Flow arrow 4"/>
          <p:cNvSpPr/>
          <p:nvPr/>
        </p:nvSpPr>
        <p:spPr>
          <a:xfrm>
            <a:off x="9253538" y="4159250"/>
            <a:ext cx="228600" cy="190500"/>
          </a:xfrm>
          <a:prstGeom prst="rightArrow">
            <a:avLst/>
          </a:prstGeom>
          <a:solidFill>
            <a:srgbClr val="0B0F14"/>
          </a:solidFill>
          <a:ln/>
        </p:spPr>
      </p:sp>
      <p:sp>
        <p:nvSpPr>
          <p:cNvPr id="12" name="Flow 5"/>
          <p:cNvSpPr txBox="1"/>
          <p:nvPr/>
        </p:nvSpPr>
        <p:spPr>
          <a:xfrm>
            <a:off x="9537700" y="3873500"/>
            <a:ext cx="1841500" cy="762000"/>
          </a:xfrm>
          <a:prstGeom prst="roundRect">
            <a:avLst>
              <a:gd name="adj" fmla="val 16667"/>
            </a:avLst>
          </a:prstGeom>
          <a:noFill/>
          <a:ln w="9525">
            <a:solidFill>
              <a:srgbClr val="0B0F14"/>
            </a:solidFill>
          </a:ln>
        </p:spPr>
        <p:txBody>
          <a:bodyPr wrap="square" lIns="101600" tIns="101600" rIns="101600" bIns="101600" rtlCol="0" anchor="ctr"/>
          <a:lstStyle/>
          <a:p>
            <a:pPr algn="ctr" indent="0" marL="0">
              <a:buNone/>
            </a:pPr>
            <a:r>
              <a:rPr lang="en-US" sz="1500" b="1" dirty="0">
                <a:solidFill>
                  <a:srgbClr val="0B0F14"/>
                </a:solidFill>
              </a:rPr>
              <a:t>Continuous optimization</a:t>
            </a:r>
            <a:endParaRPr lang="en-US" sz="1500" dirty="0"/>
          </a:p>
        </p:txBody>
      </p:sp>
      <p:sp>
        <p:nvSpPr>
          <p:cNvPr id="13" name="Statement"/>
          <p:cNvSpPr txBox="1"/>
          <p:nvPr/>
        </p:nvSpPr>
        <p:spPr>
          <a:xfrm>
            <a:off x="812800" y="5080000"/>
            <a:ext cx="9525000" cy="698500"/>
          </a:xfrm>
          <a:prstGeom prst="rect">
            <a:avLst/>
          </a:prstGeom>
          <a:noFill/>
          <a:ln/>
        </p:spPr>
        <p:txBody>
          <a:bodyPr wrap="square" lIns="0" tIns="0" rIns="0" bIns="0" rtlCol="0" anchor="t"/>
          <a:lstStyle/>
          <a:p>
            <a:pPr algn="l" indent="0" marL="0">
              <a:lnSpc>
                <a:spcPct val="120000"/>
              </a:lnSpc>
              <a:buNone/>
            </a:pPr>
            <a:r>
              <a:rPr lang="en-US" sz="1800" dirty="0">
                <a:solidFill>
                  <a:srgbClr val="0B3B2C"/>
                </a:solidFill>
              </a:rPr>
              <a:t>Not “if X, execute Y”. The human defines the mandate; KRIYA runs the decision loop; contracts enforce the boundaries.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812800" y="1460500"/>
            <a:ext cx="5080000" cy="228600"/>
          </a:xfrm>
          <a:prstGeom prst="rect">
            <a:avLst/>
          </a:prstGeom>
          <a:noFill/>
          <a:ln/>
        </p:spPr>
        <p:txBody>
          <a:bodyPr wrap="square" lIns="0" tIns="0" rIns="0" bIns="0" rtlCol="0" anchor="t"/>
          <a:lstStyle/>
          <a:p>
            <a:pPr algn="l" indent="0" marL="0">
              <a:buNone/>
            </a:pPr>
            <a:r>
              <a:rPr lang="en-US" sz="1200" spc="150" kern="0" dirty="0">
                <a:solidFill>
                  <a:schemeClr val="accent1"/>
                </a:solidFill>
                <a:latin typeface="Courier New" pitchFamily="34" charset="0"/>
                <a:ea typeface="Courier New" pitchFamily="34" charset="-122"/>
                <a:cs typeface="Courier New" pitchFamily="34" charset="-120"/>
              </a:rPr>
              <a:t>THE PRODUCT</a:t>
            </a:r>
            <a:endParaRPr lang="en-US" sz="1200" dirty="0"/>
          </a:p>
        </p:txBody>
      </p:sp>
      <p:sp>
        <p:nvSpPr>
          <p:cNvPr id="3" name="Title"/>
          <p:cNvSpPr txBox="1"/>
          <p:nvPr/>
        </p:nvSpPr>
        <p:spPr>
          <a:xfrm>
            <a:off x="812800" y="1778000"/>
            <a:ext cx="4953000" cy="1143000"/>
          </a:xfrm>
          <a:prstGeom prst="rect">
            <a:avLst/>
          </a:prstGeom>
          <a:noFill/>
          <a:ln/>
        </p:spPr>
        <p:txBody>
          <a:bodyPr wrap="square" lIns="0" tIns="0" rIns="0" bIns="0" rtlCol="0" anchor="t"/>
          <a:lstStyle/>
          <a:p>
            <a:pPr algn="l" indent="0" marL="0">
              <a:lnSpc>
                <a:spcPct val="105000"/>
              </a:lnSpc>
              <a:buNone/>
            </a:pPr>
            <a:r>
              <a:rPr lang="en-US" sz="3600" b="1" dirty="0">
                <a:solidFill>
                  <a:srgbClr val="EEF2F6"/>
                </a:solidFill>
              </a:rPr>
              <a:t>A capital mandate, not a transaction</a:t>
            </a:r>
            <a:endParaRPr lang="en-US" sz="3600" dirty="0"/>
          </a:p>
        </p:txBody>
      </p:sp>
      <p:sp>
        <p:nvSpPr>
          <p:cNvPr id="4" name="Flow"/>
          <p:cNvSpPr txBox="1"/>
          <p:nvPr/>
        </p:nvSpPr>
        <p:spPr>
          <a:xfrm>
            <a:off x="812800" y="3175000"/>
            <a:ext cx="4953000" cy="1778000"/>
          </a:xfrm>
          <a:prstGeom prst="rect">
            <a:avLst/>
          </a:prstGeom>
          <a:noFill/>
          <a:ln/>
        </p:spPr>
        <p:txBody>
          <a:bodyPr wrap="square" lIns="0" tIns="0" rIns="0" bIns="0" rtlCol="0" anchor="t"/>
          <a:lstStyle/>
          <a:p>
            <a:pPr algn="l" indent="0" marL="0">
              <a:lnSpc>
                <a:spcPct val="135000"/>
              </a:lnSpc>
              <a:buNone/>
            </a:pPr>
            <a:r>
              <a:rPr lang="en-US" sz="1600" dirty="0">
                <a:solidFill>
                  <a:srgbClr val="9AA8BA"/>
                </a:solidFill>
              </a:rPr>
              <a:t>One wallet flow: mint test USDC, approve, </a:t>
            </a:r>
            <a:pPr algn="l" indent="0" marL="0">
              <a:lnSpc>
                <a:spcPct val="135000"/>
              </a:lnSpc>
              <a:buNone/>
            </a:pPr>
            <a:r>
              <a:rPr lang="en-US" sz="1600" dirty="0">
                <a:solidFill>
                  <a:srgbClr val="EEF2F6"/>
                </a:solidFill>
                <a:latin typeface="Courier New" pitchFamily="34" charset="0"/>
                <a:ea typeface="Courier New" pitchFamily="34" charset="-122"/>
                <a:cs typeface="Courier New" pitchFamily="34" charset="-120"/>
              </a:rPr>
              <a:t>KriyaVault.openMandate</a:t>
            </a:r>
            <a:pPr algn="l" indent="0" marL="0">
              <a:lnSpc>
                <a:spcPct val="135000"/>
              </a:lnSpc>
              <a:buNone/>
            </a:pPr>
            <a:r>
              <a:rPr lang="en-US" sz="1600" dirty="0">
                <a:solidFill>
                  <a:srgbClr val="9AA8BA"/>
                </a:solidFill>
              </a:rPr>
              <a:t>. Capital and its objective are programmed in a single transaction, and the limits live onchain.</a:t>
            </a:r>
            <a:endParaRPr lang="en-US" sz="1600" dirty="0"/>
          </a:p>
        </p:txBody>
      </p:sp>
      <p:sp>
        <p:nvSpPr>
          <p:cNvPr id="5" name="Mandate card"/>
          <p:cNvSpPr/>
          <p:nvPr/>
        </p:nvSpPr>
        <p:spPr>
          <a:xfrm>
            <a:off x="6400800" y="1079500"/>
            <a:ext cx="4978400" cy="4699000"/>
          </a:xfrm>
          <a:prstGeom prst="roundRect">
            <a:avLst>
              <a:gd name="adj" fmla="val 3243"/>
            </a:avLst>
          </a:prstGeom>
          <a:solidFill>
            <a:srgbClr val="141A22"/>
          </a:solidFill>
          <a:ln w="9525">
            <a:solidFill>
              <a:srgbClr val="263040"/>
            </a:solidFill>
            <a:prstDash val="solid"/>
          </a:ln>
        </p:spPr>
      </p:sp>
      <p:sp>
        <p:nvSpPr>
          <p:cNvPr id="6" name="Text 4"/>
          <p:cNvSpPr txBox="1"/>
          <p:nvPr/>
        </p:nvSpPr>
        <p:spPr>
          <a:xfrm>
            <a:off x="6756400" y="1435100"/>
            <a:ext cx="4267200" cy="228600"/>
          </a:xfrm>
          <a:prstGeom prst="rect">
            <a:avLst/>
          </a:prstGeom>
          <a:noFill/>
          <a:ln/>
        </p:spPr>
        <p:txBody>
          <a:bodyPr wrap="square" lIns="0" tIns="0" rIns="0" bIns="0" rtlCol="0" anchor="t"/>
          <a:lstStyle/>
          <a:p>
            <a:pPr algn="l" indent="0" marL="0">
              <a:buNone/>
            </a:pPr>
            <a:r>
              <a:rPr lang="en-US" sz="1200" dirty="0">
                <a:solidFill>
                  <a:srgbClr val="9AA8BA"/>
                </a:solidFill>
                <a:latin typeface="Courier New" pitchFamily="34" charset="0"/>
                <a:ea typeface="Courier New" pitchFamily="34" charset="-122"/>
                <a:cs typeface="Courier New" pitchFamily="34" charset="-120"/>
              </a:rPr>
              <a:t>KriyaMandate · demo</a:t>
            </a:r>
            <a:endParaRPr lang="en-US" sz="1200" dirty="0"/>
          </a:p>
        </p:txBody>
      </p:sp>
      <p:sp>
        <p:nvSpPr>
          <p:cNvPr id="7" name="Text 5"/>
          <p:cNvSpPr txBox="1"/>
          <p:nvPr/>
        </p:nvSpPr>
        <p:spPr>
          <a:xfrm>
            <a:off x="6756400" y="1752600"/>
            <a:ext cx="4267200" cy="571500"/>
          </a:xfrm>
          <a:prstGeom prst="rect">
            <a:avLst/>
          </a:prstGeom>
          <a:noFill/>
          <a:ln/>
        </p:spPr>
        <p:txBody>
          <a:bodyPr wrap="square" lIns="0" tIns="0" rIns="0" bIns="0" rtlCol="0" anchor="t"/>
          <a:lstStyle/>
          <a:p>
            <a:pPr algn="l" indent="0" marL="0">
              <a:buNone/>
            </a:pPr>
            <a:r>
              <a:rPr lang="en-US" sz="3600" b="1" dirty="0">
                <a:solidFill>
                  <a:srgbClr val="EEF2F6"/>
                </a:solidFill>
              </a:rPr>
              <a:t>$1,000 USDC</a:t>
            </a:r>
            <a:endParaRPr lang="en-US" sz="3600" dirty="0"/>
          </a:p>
        </p:txBody>
      </p:sp>
      <p:sp>
        <p:nvSpPr>
          <p:cNvPr id="8" name="Text 6"/>
          <p:cNvSpPr txBox="1"/>
          <p:nvPr/>
        </p:nvSpPr>
        <p:spPr>
          <a:xfrm>
            <a:off x="6756400" y="2413000"/>
            <a:ext cx="4267200" cy="304800"/>
          </a:xfrm>
          <a:prstGeom prst="rect">
            <a:avLst/>
          </a:prstGeom>
          <a:noFill/>
          <a:ln/>
        </p:spPr>
        <p:txBody>
          <a:bodyPr wrap="square" lIns="0" tIns="0" rIns="0" bIns="0" rtlCol="0" anchor="t"/>
          <a:lstStyle/>
          <a:p>
            <a:pPr algn="l" indent="0" marL="0">
              <a:buNone/>
            </a:pPr>
            <a:r>
              <a:rPr lang="en-US" sz="1600" dirty="0">
                <a:solidFill>
                  <a:schemeClr val="accent1"/>
                </a:solidFill>
              </a:rPr>
              <a:t>Maximize risk-adjusted yield</a:t>
            </a:r>
            <a:endParaRPr lang="en-US" sz="1600" dirty="0"/>
          </a:p>
        </p:txBody>
      </p:sp>
      <p:graphicFrame>
        <p:nvGraphicFramePr>
          <p:cNvPr id="5" name="Limits"/>
          <p:cNvGraphicFramePr>
            <a:graphicFrameLocks noGrp="1"/>
          </p:cNvGraphicFramePr>
          <p:nvPr>
            <p:extLst>
              <p:ext uri="{D42A27DB-BD31-4B8C-83A1-F6EECF244321}">
                <p14:modId xmlns:p14="http://schemas.microsoft.com/office/powerpoint/2010/main" val="1579011935"/>
              </p:ext>
            </p:extLst>
          </p:nvPr>
        </p:nvGraphicFramePr>
        <p:xfrm>
          <a:off x="6756400" y="2984500"/>
          <a:ext cx="4267200" cy="914400"/>
        </p:xfrm>
        <a:graphic>
          <a:graphicData uri="http://schemas.openxmlformats.org/drawingml/2006/table">
            <a:tbl>
              <a:tblPr/>
              <a:tblGrid>
                <a:gridCol w="3505200"/>
                <a:gridCol w="762000"/>
              </a:tblGrid>
              <a:tr h="482600">
                <a:tc>
                  <a:txBody>
                    <a:bodyPr/>
                    <a:lstStyle/>
                    <a:p>
                      <a:pPr indent="0" marL="0">
                        <a:buNone/>
                      </a:pPr>
                      <a:r>
                        <a:rPr lang="en-US" sz="1400" dirty="0">
                          <a:solidFill>
                            <a:srgbClr val="9AA8BA"/>
                          </a:solidFill>
                          <a:latin typeface="Courier New" pitchFamily="34" charset="0"/>
                          <a:ea typeface="Courier New" pitchFamily="34" charset="-122"/>
                          <a:cs typeface="Courier New" pitchFamily="34" charset="-120"/>
                        </a:rPr>
                        <a:t>Max risk (strategy &amp; portfolio)</a:t>
                      </a:r>
                      <a:endParaRPr lang="en-US" sz="1400" dirty="0">
                        <a:latin typeface="Courier New" charset="0"/>
                        <a:ea typeface="Courier New" charset="0"/>
                        <a:cs typeface="Courier New" charset="0"/>
                      </a:endParaRPr>
                    </a:p>
                  </a:txBody>
                  <a:tcPr marL="50800" marR="50800" marT="0" marB="0" anchor="ctr">
                    <a:lnL w="9525" cap="flat" cmpd="sng" algn="ctr">
                      <a:solidFill>
                        <a:srgbClr val="263040"/>
                      </a:solidFill>
                      <a:prstDash val="solid"/>
                      <a:round/>
                      <a:headEnd type="none" w="med" len="med"/>
                      <a:tailEnd type="none" w="med" len="med"/>
                    </a:lnL>
                    <a:lnR w="9525" cap="flat" cmpd="sng" algn="ctr">
                      <a:solidFill>
                        <a:srgbClr val="263040"/>
                      </a:solidFill>
                      <a:prstDash val="solid"/>
                      <a:round/>
                      <a:headEnd type="none" w="med" len="med"/>
                      <a:tailEnd type="none" w="med" len="med"/>
                    </a:lnR>
                    <a:lnT w="9525" cap="flat" cmpd="sng" algn="ctr">
                      <a:solidFill>
                        <a:srgbClr val="263040"/>
                      </a:solidFill>
                      <a:prstDash val="solid"/>
                      <a:round/>
                      <a:headEnd type="none" w="med" len="med"/>
                      <a:tailEnd type="none" w="med" len="med"/>
                    </a:lnT>
                    <a:lnB w="9525" cap="flat" cmpd="sng" algn="ctr">
                      <a:solidFill>
                        <a:srgbClr val="263040"/>
                      </a:solidFill>
                      <a:prstDash val="solid"/>
                      <a:round/>
                      <a:headEnd type="none" w="med" len="med"/>
                      <a:tailEnd type="none" w="med" len="med"/>
                    </a:lnB>
                  </a:tcPr>
                </a:tc>
                <a:tc>
                  <a:txBody>
                    <a:bodyPr/>
                    <a:lstStyle/>
                    <a:p>
                      <a:pPr algn="r" indent="0" marL="0">
                        <a:buNone/>
                      </a:pPr>
                      <a:r>
                        <a:rPr lang="en-US" sz="1400" b="1" dirty="0">
                          <a:solidFill>
                            <a:srgbClr val="EEF2F6"/>
                          </a:solidFill>
                          <a:latin typeface="Courier New" pitchFamily="34" charset="0"/>
                          <a:ea typeface="Courier New" pitchFamily="34" charset="-122"/>
                          <a:cs typeface="Courier New" pitchFamily="34" charset="-120"/>
                        </a:rPr>
                        <a:t>40</a:t>
                      </a:r>
                      <a:endParaRPr lang="en-US" sz="1400" dirty="0">
                        <a:latin typeface="Courier New" charset="0"/>
                        <a:ea typeface="Courier New" charset="0"/>
                        <a:cs typeface="Courier New" charset="0"/>
                      </a:endParaRPr>
                    </a:p>
                  </a:txBody>
                  <a:tcPr marL="50800" marR="50800" marT="0" marB="0" anchor="ctr">
                    <a:lnL w="9525" cap="flat" cmpd="sng" algn="ctr">
                      <a:solidFill>
                        <a:srgbClr val="263040"/>
                      </a:solidFill>
                      <a:prstDash val="solid"/>
                      <a:round/>
                      <a:headEnd type="none" w="med" len="med"/>
                      <a:tailEnd type="none" w="med" len="med"/>
                    </a:lnL>
                    <a:lnR w="9525" cap="flat" cmpd="sng" algn="ctr">
                      <a:solidFill>
                        <a:srgbClr val="263040"/>
                      </a:solidFill>
                      <a:prstDash val="solid"/>
                      <a:round/>
                      <a:headEnd type="none" w="med" len="med"/>
                      <a:tailEnd type="none" w="med" len="med"/>
                    </a:lnR>
                    <a:lnT w="9525" cap="flat" cmpd="sng" algn="ctr">
                      <a:solidFill>
                        <a:srgbClr val="263040"/>
                      </a:solidFill>
                      <a:prstDash val="solid"/>
                      <a:round/>
                      <a:headEnd type="none" w="med" len="med"/>
                      <a:tailEnd type="none" w="med" len="med"/>
                    </a:lnT>
                    <a:lnB w="9525" cap="flat" cmpd="sng" algn="ctr">
                      <a:solidFill>
                        <a:srgbClr val="263040"/>
                      </a:solidFill>
                      <a:prstDash val="solid"/>
                      <a:round/>
                      <a:headEnd type="none" w="med" len="med"/>
                      <a:tailEnd type="none" w="med" len="med"/>
                    </a:lnB>
                  </a:tcPr>
                </a:tc>
              </a:tr>
              <a:tr h="482600">
                <a:tc>
                  <a:txBody>
                    <a:bodyPr/>
                    <a:lstStyle/>
                    <a:p>
                      <a:pPr indent="0" marL="0">
                        <a:buNone/>
                      </a:pPr>
                      <a:r>
                        <a:rPr lang="en-US" sz="1400" dirty="0">
                          <a:solidFill>
                            <a:srgbClr val="9AA8BA"/>
                          </a:solidFill>
                          <a:latin typeface="Courier New" pitchFamily="34" charset="0"/>
                          <a:ea typeface="Courier New" pitchFamily="34" charset="-122"/>
                          <a:cs typeface="Courier New" pitchFamily="34" charset="-120"/>
                        </a:rPr>
                        <a:t>Max strategy exposure</a:t>
                      </a:r>
                      <a:endParaRPr lang="en-US" sz="1400" dirty="0">
                        <a:latin typeface="Courier New" charset="0"/>
                        <a:ea typeface="Courier New" charset="0"/>
                        <a:cs typeface="Courier New" charset="0"/>
                      </a:endParaRPr>
                    </a:p>
                  </a:txBody>
                  <a:tcPr marL="50800" marR="50800" marT="0" marB="0" anchor="ctr">
                    <a:lnL w="9525" cap="flat" cmpd="sng" algn="ctr">
                      <a:solidFill>
                        <a:srgbClr val="263040"/>
                      </a:solidFill>
                      <a:prstDash val="solid"/>
                      <a:round/>
                      <a:headEnd type="none" w="med" len="med"/>
                      <a:tailEnd type="none" w="med" len="med"/>
                    </a:lnL>
                    <a:lnR w="9525" cap="flat" cmpd="sng" algn="ctr">
                      <a:solidFill>
                        <a:srgbClr val="263040"/>
                      </a:solidFill>
                      <a:prstDash val="solid"/>
                      <a:round/>
                      <a:headEnd type="none" w="med" len="med"/>
                      <a:tailEnd type="none" w="med" len="med"/>
                    </a:lnR>
                    <a:lnT w="9525" cap="flat" cmpd="sng" algn="ctr">
                      <a:solidFill>
                        <a:srgbClr val="263040"/>
                      </a:solidFill>
                      <a:prstDash val="solid"/>
                      <a:round/>
                      <a:headEnd type="none" w="med" len="med"/>
                      <a:tailEnd type="none" w="med" len="med"/>
                    </a:lnT>
                    <a:lnB w="9525" cap="flat" cmpd="sng" algn="ctr">
                      <a:solidFill>
                        <a:srgbClr val="263040"/>
                      </a:solidFill>
                      <a:prstDash val="solid"/>
                      <a:round/>
                      <a:headEnd type="none" w="med" len="med"/>
                      <a:tailEnd type="none" w="med" len="med"/>
                    </a:lnB>
                  </a:tcPr>
                </a:tc>
                <a:tc>
                  <a:txBody>
                    <a:bodyPr/>
                    <a:lstStyle/>
                    <a:p>
                      <a:pPr algn="r" indent="0" marL="0">
                        <a:buNone/>
                      </a:pPr>
                      <a:r>
                        <a:rPr lang="en-US" sz="1400" b="1" dirty="0">
                          <a:solidFill>
                            <a:srgbClr val="EEF2F6"/>
                          </a:solidFill>
                          <a:latin typeface="Courier New" pitchFamily="34" charset="0"/>
                          <a:ea typeface="Courier New" pitchFamily="34" charset="-122"/>
                          <a:cs typeface="Courier New" pitchFamily="34" charset="-120"/>
                        </a:rPr>
                        <a:t>40%</a:t>
                      </a:r>
                      <a:endParaRPr lang="en-US" sz="1400" dirty="0">
                        <a:latin typeface="Courier New" charset="0"/>
                        <a:ea typeface="Courier New" charset="0"/>
                        <a:cs typeface="Courier New" charset="0"/>
                      </a:endParaRPr>
                    </a:p>
                  </a:txBody>
                  <a:tcPr marL="50800" marR="50800" marT="0" marB="0" anchor="ctr">
                    <a:lnL w="9525" cap="flat" cmpd="sng" algn="ctr">
                      <a:solidFill>
                        <a:srgbClr val="263040"/>
                      </a:solidFill>
                      <a:prstDash val="solid"/>
                      <a:round/>
                      <a:headEnd type="none" w="med" len="med"/>
                      <a:tailEnd type="none" w="med" len="med"/>
                    </a:lnL>
                    <a:lnR w="9525" cap="flat" cmpd="sng" algn="ctr">
                      <a:solidFill>
                        <a:srgbClr val="263040"/>
                      </a:solidFill>
                      <a:prstDash val="solid"/>
                      <a:round/>
                      <a:headEnd type="none" w="med" len="med"/>
                      <a:tailEnd type="none" w="med" len="med"/>
                    </a:lnR>
                    <a:lnT w="9525" cap="flat" cmpd="sng" algn="ctr">
                      <a:solidFill>
                        <a:srgbClr val="263040"/>
                      </a:solidFill>
                      <a:prstDash val="solid"/>
                      <a:round/>
                      <a:headEnd type="none" w="med" len="med"/>
                      <a:tailEnd type="none" w="med" len="med"/>
                    </a:lnT>
                    <a:lnB w="9525" cap="flat" cmpd="sng" algn="ctr">
                      <a:solidFill>
                        <a:srgbClr val="263040"/>
                      </a:solidFill>
                      <a:prstDash val="solid"/>
                      <a:round/>
                      <a:headEnd type="none" w="med" len="med"/>
                      <a:tailEnd type="none" w="med" len="med"/>
                    </a:lnB>
                  </a:tcPr>
                </a:tc>
              </a:tr>
              <a:tr h="482600">
                <a:tc>
                  <a:txBody>
                    <a:bodyPr/>
                    <a:lstStyle/>
                    <a:p>
                      <a:pPr indent="0" marL="0">
                        <a:buNone/>
                      </a:pPr>
                      <a:r>
                        <a:rPr lang="en-US" sz="1400" dirty="0">
                          <a:solidFill>
                            <a:srgbClr val="9AA8BA"/>
                          </a:solidFill>
                          <a:latin typeface="Courier New" pitchFamily="34" charset="0"/>
                          <a:ea typeface="Courier New" pitchFamily="34" charset="-122"/>
                          <a:cs typeface="Courier New" pitchFamily="34" charset="-120"/>
                        </a:rPr>
                        <a:t>Min USDC reserve</a:t>
                      </a:r>
                      <a:endParaRPr lang="en-US" sz="1400" dirty="0">
                        <a:latin typeface="Courier New" charset="0"/>
                        <a:ea typeface="Courier New" charset="0"/>
                        <a:cs typeface="Courier New" charset="0"/>
                      </a:endParaRPr>
                    </a:p>
                  </a:txBody>
                  <a:tcPr marL="50800" marR="50800" marT="0" marB="0" anchor="ctr">
                    <a:lnL w="9525" cap="flat" cmpd="sng" algn="ctr">
                      <a:solidFill>
                        <a:srgbClr val="263040"/>
                      </a:solidFill>
                      <a:prstDash val="solid"/>
                      <a:round/>
                      <a:headEnd type="none" w="med" len="med"/>
                      <a:tailEnd type="none" w="med" len="med"/>
                    </a:lnL>
                    <a:lnR w="9525" cap="flat" cmpd="sng" algn="ctr">
                      <a:solidFill>
                        <a:srgbClr val="263040"/>
                      </a:solidFill>
                      <a:prstDash val="solid"/>
                      <a:round/>
                      <a:headEnd type="none" w="med" len="med"/>
                      <a:tailEnd type="none" w="med" len="med"/>
                    </a:lnR>
                    <a:lnT w="9525" cap="flat" cmpd="sng" algn="ctr">
                      <a:solidFill>
                        <a:srgbClr val="263040"/>
                      </a:solidFill>
                      <a:prstDash val="solid"/>
                      <a:round/>
                      <a:headEnd type="none" w="med" len="med"/>
                      <a:tailEnd type="none" w="med" len="med"/>
                    </a:lnT>
                    <a:lnB w="9525" cap="flat" cmpd="sng" algn="ctr">
                      <a:solidFill>
                        <a:srgbClr val="263040"/>
                      </a:solidFill>
                      <a:prstDash val="solid"/>
                      <a:round/>
                      <a:headEnd type="none" w="med" len="med"/>
                      <a:tailEnd type="none" w="med" len="med"/>
                    </a:lnB>
                  </a:tcPr>
                </a:tc>
                <a:tc>
                  <a:txBody>
                    <a:bodyPr/>
                    <a:lstStyle/>
                    <a:p>
                      <a:pPr algn="r" indent="0" marL="0">
                        <a:buNone/>
                      </a:pPr>
                      <a:r>
                        <a:rPr lang="en-US" sz="1400" b="1" dirty="0">
                          <a:solidFill>
                            <a:srgbClr val="EEF2F6"/>
                          </a:solidFill>
                          <a:latin typeface="Courier New" pitchFamily="34" charset="0"/>
                          <a:ea typeface="Courier New" pitchFamily="34" charset="-122"/>
                          <a:cs typeface="Courier New" pitchFamily="34" charset="-120"/>
                        </a:rPr>
                        <a:t>25%</a:t>
                      </a:r>
                      <a:endParaRPr lang="en-US" sz="1400" dirty="0">
                        <a:latin typeface="Courier New" charset="0"/>
                        <a:ea typeface="Courier New" charset="0"/>
                        <a:cs typeface="Courier New" charset="0"/>
                      </a:endParaRPr>
                    </a:p>
                  </a:txBody>
                  <a:tcPr marL="50800" marR="50800" marT="0" marB="0" anchor="ctr">
                    <a:lnL w="9525" cap="flat" cmpd="sng" algn="ctr">
                      <a:solidFill>
                        <a:srgbClr val="263040"/>
                      </a:solidFill>
                      <a:prstDash val="solid"/>
                      <a:round/>
                      <a:headEnd type="none" w="med" len="med"/>
                      <a:tailEnd type="none" w="med" len="med"/>
                    </a:lnL>
                    <a:lnR w="9525" cap="flat" cmpd="sng" algn="ctr">
                      <a:solidFill>
                        <a:srgbClr val="263040"/>
                      </a:solidFill>
                      <a:prstDash val="solid"/>
                      <a:round/>
                      <a:headEnd type="none" w="med" len="med"/>
                      <a:tailEnd type="none" w="med" len="med"/>
                    </a:lnR>
                    <a:lnT w="9525" cap="flat" cmpd="sng" algn="ctr">
                      <a:solidFill>
                        <a:srgbClr val="263040"/>
                      </a:solidFill>
                      <a:prstDash val="solid"/>
                      <a:round/>
                      <a:headEnd type="none" w="med" len="med"/>
                      <a:tailEnd type="none" w="med" len="med"/>
                    </a:lnT>
                    <a:lnB w="9525" cap="flat" cmpd="sng" algn="ctr">
                      <a:solidFill>
                        <a:srgbClr val="263040"/>
                      </a:solidFill>
                      <a:prstDash val="solid"/>
                      <a:round/>
                      <a:headEnd type="none" w="med" len="med"/>
                      <a:tailEnd type="none" w="med" len="med"/>
                    </a:lnB>
                  </a:tcPr>
                </a:tc>
              </a:tr>
              <a:tr h="482600">
                <a:tc>
                  <a:txBody>
                    <a:bodyPr/>
                    <a:lstStyle/>
                    <a:p>
                      <a:pPr indent="0" marL="0">
                        <a:buNone/>
                      </a:pPr>
                      <a:r>
                        <a:rPr lang="en-US" sz="1400" dirty="0">
                          <a:solidFill>
                            <a:srgbClr val="9AA8BA"/>
                          </a:solidFill>
                          <a:latin typeface="Courier New" pitchFamily="34" charset="0"/>
                          <a:ea typeface="Courier New" pitchFamily="34" charset="-122"/>
                          <a:cs typeface="Courier New" pitchFamily="34" charset="-120"/>
                        </a:rPr>
                        <a:t>Max drawdown</a:t>
                      </a:r>
                      <a:endParaRPr lang="en-US" sz="1400" dirty="0">
                        <a:latin typeface="Courier New" charset="0"/>
                        <a:ea typeface="Courier New" charset="0"/>
                        <a:cs typeface="Courier New" charset="0"/>
                      </a:endParaRPr>
                    </a:p>
                  </a:txBody>
                  <a:tcPr marL="50800" marR="50800" marT="0" marB="0" anchor="ctr">
                    <a:lnL w="9525" cap="flat" cmpd="sng" algn="ctr">
                      <a:solidFill>
                        <a:srgbClr val="263040"/>
                      </a:solidFill>
                      <a:prstDash val="solid"/>
                      <a:round/>
                      <a:headEnd type="none" w="med" len="med"/>
                      <a:tailEnd type="none" w="med" len="med"/>
                    </a:lnL>
                    <a:lnR w="9525" cap="flat" cmpd="sng" algn="ctr">
                      <a:solidFill>
                        <a:srgbClr val="263040"/>
                      </a:solidFill>
                      <a:prstDash val="solid"/>
                      <a:round/>
                      <a:headEnd type="none" w="med" len="med"/>
                      <a:tailEnd type="none" w="med" len="med"/>
                    </a:lnR>
                    <a:lnT w="9525" cap="flat" cmpd="sng" algn="ctr">
                      <a:solidFill>
                        <a:srgbClr val="263040"/>
                      </a:solidFill>
                      <a:prstDash val="solid"/>
                      <a:round/>
                      <a:headEnd type="none" w="med" len="med"/>
                      <a:tailEnd type="none" w="med" len="med"/>
                    </a:lnT>
                    <a:lnB w="9525" cap="flat" cmpd="sng" algn="ctr">
                      <a:solidFill>
                        <a:srgbClr val="263040"/>
                      </a:solidFill>
                      <a:prstDash val="solid"/>
                      <a:round/>
                      <a:headEnd type="none" w="med" len="med"/>
                      <a:tailEnd type="none" w="med" len="med"/>
                    </a:lnB>
                  </a:tcPr>
                </a:tc>
                <a:tc>
                  <a:txBody>
                    <a:bodyPr/>
                    <a:lstStyle/>
                    <a:p>
                      <a:pPr algn="r" indent="0" marL="0">
                        <a:buNone/>
                      </a:pPr>
                      <a:r>
                        <a:rPr lang="en-US" sz="1400" b="1" dirty="0">
                          <a:solidFill>
                            <a:srgbClr val="EEF2F6"/>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50800" marR="50800" marT="0" marB="0" anchor="ctr">
                    <a:lnL w="9525" cap="flat" cmpd="sng" algn="ctr">
                      <a:solidFill>
                        <a:srgbClr val="263040"/>
                      </a:solidFill>
                      <a:prstDash val="solid"/>
                      <a:round/>
                      <a:headEnd type="none" w="med" len="med"/>
                      <a:tailEnd type="none" w="med" len="med"/>
                    </a:lnL>
                    <a:lnR w="9525" cap="flat" cmpd="sng" algn="ctr">
                      <a:solidFill>
                        <a:srgbClr val="263040"/>
                      </a:solidFill>
                      <a:prstDash val="solid"/>
                      <a:round/>
                      <a:headEnd type="none" w="med" len="med"/>
                      <a:tailEnd type="none" w="med" len="med"/>
                    </a:lnR>
                    <a:lnT w="9525" cap="flat" cmpd="sng" algn="ctr">
                      <a:solidFill>
                        <a:srgbClr val="263040"/>
                      </a:solidFill>
                      <a:prstDash val="solid"/>
                      <a:round/>
                      <a:headEnd type="none" w="med" len="med"/>
                      <a:tailEnd type="none" w="med" len="med"/>
                    </a:lnT>
                    <a:lnB w="9525" cap="flat" cmpd="sng" algn="ctr">
                      <a:solidFill>
                        <a:srgbClr val="263040"/>
                      </a:solidFill>
                      <a:prstDash val="solid"/>
                      <a:round/>
                      <a:headEnd type="none" w="med" len="med"/>
                      <a:tailEnd type="none" w="med" len="med"/>
                    </a:lnB>
                  </a:tcPr>
                </a:tc>
              </a:tr>
              <a:tr h="482600">
                <a:tc>
                  <a:txBody>
                    <a:bodyPr/>
                    <a:lstStyle/>
                    <a:p>
                      <a:pPr indent="0" marL="0">
                        <a:buNone/>
                      </a:pPr>
                      <a:r>
                        <a:rPr lang="en-US" sz="1400" dirty="0">
                          <a:solidFill>
                            <a:srgbClr val="9AA8BA"/>
                          </a:solidFill>
                          <a:latin typeface="Courier New" pitchFamily="34" charset="0"/>
                          <a:ea typeface="Courier New" pitchFamily="34" charset="-122"/>
                          <a:cs typeface="Courier New" pitchFamily="34" charset="-120"/>
                        </a:rPr>
                        <a:t>Autonomous rebalance</a:t>
                      </a:r>
                      <a:endParaRPr lang="en-US" sz="1400" dirty="0">
                        <a:latin typeface="Courier New" charset="0"/>
                        <a:ea typeface="Courier New" charset="0"/>
                        <a:cs typeface="Courier New" charset="0"/>
                      </a:endParaRPr>
                    </a:p>
                  </a:txBody>
                  <a:tcPr marL="50800" marR="50800" marT="0" marB="0" anchor="ctr">
                    <a:lnL w="9525" cap="flat" cmpd="sng" algn="ctr">
                      <a:solidFill>
                        <a:srgbClr val="263040"/>
                      </a:solidFill>
                      <a:prstDash val="solid"/>
                      <a:round/>
                      <a:headEnd type="none" w="med" len="med"/>
                      <a:tailEnd type="none" w="med" len="med"/>
                    </a:lnL>
                    <a:lnR w="9525" cap="flat" cmpd="sng" algn="ctr">
                      <a:solidFill>
                        <a:srgbClr val="263040"/>
                      </a:solidFill>
                      <a:prstDash val="solid"/>
                      <a:round/>
                      <a:headEnd type="none" w="med" len="med"/>
                      <a:tailEnd type="none" w="med" len="med"/>
                    </a:lnR>
                    <a:lnT w="9525" cap="flat" cmpd="sng" algn="ctr">
                      <a:solidFill>
                        <a:srgbClr val="263040"/>
                      </a:solidFill>
                      <a:prstDash val="solid"/>
                      <a:round/>
                      <a:headEnd type="none" w="med" len="med"/>
                      <a:tailEnd type="none" w="med" len="med"/>
                    </a:lnT>
                    <a:lnB w="9525" cap="flat" cmpd="sng" algn="ctr">
                      <a:solidFill>
                        <a:srgbClr val="263040"/>
                      </a:solidFill>
                      <a:prstDash val="solid"/>
                      <a:round/>
                      <a:headEnd type="none" w="med" len="med"/>
                      <a:tailEnd type="none" w="med" len="med"/>
                    </a:lnB>
                  </a:tcPr>
                </a:tc>
                <a:tc>
                  <a:txBody>
                    <a:bodyPr/>
                    <a:lstStyle/>
                    <a:p>
                      <a:pPr algn="r" indent="0" marL="0">
                        <a:buNone/>
                      </a:pPr>
                      <a:r>
                        <a:rPr lang="en-US" sz="1400" b="1" dirty="0">
                          <a:solidFill>
                            <a:srgbClr val="EEF2F6"/>
                          </a:solidFill>
                          <a:latin typeface="Courier New" pitchFamily="34" charset="0"/>
                          <a:ea typeface="Courier New" pitchFamily="34" charset="-122"/>
                          <a:cs typeface="Courier New" pitchFamily="34" charset="-120"/>
                        </a:rPr>
                        <a:t>ON</a:t>
                      </a:r>
                      <a:endParaRPr lang="en-US" sz="1400" dirty="0">
                        <a:latin typeface="Courier New" charset="0"/>
                        <a:ea typeface="Courier New" charset="0"/>
                        <a:cs typeface="Courier New" charset="0"/>
                      </a:endParaRPr>
                    </a:p>
                  </a:txBody>
                  <a:tcPr marL="50800" marR="50800" marT="0" marB="0" anchor="ctr">
                    <a:lnL w="9525" cap="flat" cmpd="sng" algn="ctr">
                      <a:solidFill>
                        <a:srgbClr val="263040"/>
                      </a:solidFill>
                      <a:prstDash val="solid"/>
                      <a:round/>
                      <a:headEnd type="none" w="med" len="med"/>
                      <a:tailEnd type="none" w="med" len="med"/>
                    </a:lnL>
                    <a:lnR w="9525" cap="flat" cmpd="sng" algn="ctr">
                      <a:solidFill>
                        <a:srgbClr val="263040"/>
                      </a:solidFill>
                      <a:prstDash val="solid"/>
                      <a:round/>
                      <a:headEnd type="none" w="med" len="med"/>
                      <a:tailEnd type="none" w="med" len="med"/>
                    </a:lnR>
                    <a:lnT w="9525" cap="flat" cmpd="sng" algn="ctr">
                      <a:solidFill>
                        <a:srgbClr val="263040"/>
                      </a:solidFill>
                      <a:prstDash val="solid"/>
                      <a:round/>
                      <a:headEnd type="none" w="med" len="med"/>
                      <a:tailEnd type="none" w="med" len="med"/>
                    </a:lnT>
                    <a:lnB w="9525" cap="flat" cmpd="sng" algn="ctr">
                      <a:solidFill>
                        <a:srgbClr val="263040"/>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812800" y="812800"/>
            <a:ext cx="10566400" cy="228600"/>
          </a:xfrm>
          <a:prstGeom prst="rect">
            <a:avLst/>
          </a:prstGeom>
          <a:noFill/>
          <a:ln/>
        </p:spPr>
        <p:txBody>
          <a:bodyPr wrap="square" lIns="0" tIns="0" rIns="0" bIns="0" rtlCol="0" anchor="t"/>
          <a:lstStyle/>
          <a:p>
            <a:pPr algn="l" indent="0" marL="0">
              <a:buNone/>
            </a:pPr>
            <a:r>
              <a:rPr lang="en-US" sz="1200" spc="150" kern="0" dirty="0">
                <a:solidFill>
                  <a:schemeClr val="accent5"/>
                </a:solidFill>
                <a:latin typeface="Courier New" pitchFamily="34" charset="0"/>
                <a:ea typeface="Courier New" pitchFamily="34" charset="-122"/>
                <a:cs typeface="Courier New" pitchFamily="34" charset="-120"/>
              </a:rPr>
              <a:t>ARCHITECTURE</a:t>
            </a:r>
            <a:endParaRPr lang="en-US" sz="1200" dirty="0"/>
          </a:p>
        </p:txBody>
      </p:sp>
      <p:sp>
        <p:nvSpPr>
          <p:cNvPr id="3" name="Text 0"/>
          <p:cNvSpPr/>
          <p:nvPr>
            <p:ph idx="100" type="title" hasCustomPrompt="1"/>
          </p:nvPr>
        </p:nvSpPr>
        <p:spPr>
          <a:xfrm>
            <a:off x="812800" y="1117600"/>
            <a:ext cx="10566400" cy="1143000"/>
          </a:xfrm>
          <a:prstGeom prst="rect">
            <a:avLst/>
          </a:prstGeom>
          <a:noFill/>
          <a:ln/>
        </p:spPr>
        <p:txBody>
          <a:bodyPr wrap="square" lIns="0" tIns="0" rIns="0" bIns="0" rtlCol="0" anchor="t"/>
          <a:lstStyle/>
          <a:p>
            <a:pPr algn="l" indent="0" marL="0">
              <a:buNone/>
            </a:pPr>
            <a:r>
              <a:rPr lang="en-US" sz="3600" b="1" dirty="0">
                <a:solidFill>
                  <a:schemeClr val="tx2"/>
                </a:solidFill>
              </a:rPr>
              <a:t>Five layers, each with one job</a:t>
            </a:r>
            <a:endParaRPr lang="en-US" sz="3600" dirty="0"/>
          </a:p>
        </p:txBody>
      </p:sp>
      <p:graphicFrame>
        <p:nvGraphicFramePr>
          <p:cNvPr id="6" name="Layers"/>
          <p:cNvGraphicFramePr>
            <a:graphicFrameLocks noGrp="1"/>
          </p:cNvGraphicFramePr>
          <p:nvPr>
            <p:extLst>
              <p:ext uri="{D42A27DB-BD31-4B8C-83A1-F6EECF244321}">
                <p14:modId xmlns:p14="http://schemas.microsoft.com/office/powerpoint/2010/main" val="1579011935"/>
              </p:ext>
            </p:extLst>
          </p:nvPr>
        </p:nvGraphicFramePr>
        <p:xfrm>
          <a:off x="812800" y="2095500"/>
          <a:ext cx="10566400" cy="914400"/>
        </p:xfrm>
        <a:graphic>
          <a:graphicData uri="http://schemas.openxmlformats.org/drawingml/2006/table">
            <a:tbl>
              <a:tblPr/>
              <a:tblGrid>
                <a:gridCol w="2095500"/>
                <a:gridCol w="3365500"/>
                <a:gridCol w="5105400"/>
              </a:tblGrid>
              <a:tr h="533400">
                <a:tc>
                  <a:txBody>
                    <a:bodyPr/>
                    <a:lstStyle/>
                    <a:p>
                      <a:pPr indent="0" marL="0">
                        <a:buNone/>
                      </a:pPr>
                      <a:r>
                        <a:rPr lang="en-US" sz="1500" b="1" dirty="0">
                          <a:solidFill>
                            <a:srgbClr val="EEF2F6"/>
                          </a:solidFill>
                        </a:rPr>
                        <a:t>Layer</a:t>
                      </a:r>
                      <a:endParaRPr lang="en-US" sz="15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101820"/>
                    </a:solidFill>
                  </a:tcPr>
                </a:tc>
                <a:tc>
                  <a:txBody>
                    <a:bodyPr/>
                    <a:lstStyle/>
                    <a:p>
                      <a:pPr indent="0" marL="0">
                        <a:buNone/>
                      </a:pPr>
                      <a:r>
                        <a:rPr lang="en-US" sz="1500" b="1" dirty="0">
                          <a:solidFill>
                            <a:srgbClr val="EEF2F6"/>
                          </a:solidFill>
                        </a:rPr>
                        <a:t>Responsibility</a:t>
                      </a:r>
                      <a:endParaRPr lang="en-US" sz="15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101820"/>
                    </a:solidFill>
                  </a:tcPr>
                </a:tc>
                <a:tc>
                  <a:txBody>
                    <a:bodyPr/>
                    <a:lstStyle/>
                    <a:p>
                      <a:pPr indent="0" marL="0">
                        <a:buNone/>
                      </a:pPr>
                      <a:r>
                        <a:rPr lang="en-US" sz="1500" b="1" dirty="0">
                          <a:solidFill>
                            <a:srgbClr val="EEF2F6"/>
                          </a:solidFill>
                        </a:rPr>
                        <a:t>In KRIYA</a:t>
                      </a:r>
                      <a:endParaRPr lang="en-US" sz="15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101820"/>
                    </a:solidFill>
                  </a:tcPr>
                </a:tc>
              </a:tr>
              <a:tr h="533400">
                <a:tc>
                  <a:txBody>
                    <a:bodyPr/>
                    <a:lstStyle/>
                    <a:p>
                      <a:pPr indent="0" marL="0">
                        <a:buNone/>
                      </a:pPr>
                      <a:r>
                        <a:rPr lang="en-US" sz="1500" b="1" dirty="0">
                          <a:solidFill>
                            <a:srgbClr val="101820"/>
                          </a:solidFill>
                        </a:rPr>
                        <a:t>Intent</a:t>
                      </a:r>
                      <a:endParaRPr lang="en-US" sz="15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3F5F2"/>
                    </a:solidFill>
                  </a:tcPr>
                </a:tc>
                <a:tc>
                  <a:txBody>
                    <a:bodyPr/>
                    <a:lstStyle/>
                    <a:p>
                      <a:pPr indent="0" marL="0">
                        <a:buNone/>
                      </a:pPr>
                      <a:r>
                        <a:rPr lang="en-US" sz="1500" dirty="0">
                          <a:solidFill>
                            <a:srgbClr val="101820"/>
                          </a:solidFill>
                        </a:rPr>
                        <a:t>What the user wants</a:t>
                      </a:r>
                      <a:endParaRPr lang="en-US" sz="15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3F5F2"/>
                    </a:solidFill>
                  </a:tcPr>
                </a:tc>
                <a:tc>
                  <a:txBody>
                    <a:bodyPr/>
                    <a:lstStyle/>
                    <a:p>
                      <a:pPr indent="0" marL="0">
                        <a:buNone/>
                      </a:pPr>
                      <a:r>
                        <a:rPr lang="en-US" sz="1500" dirty="0">
                          <a:solidFill>
                            <a:srgbClr val="101820"/>
                          </a:solidFill>
                        </a:rPr>
                        <a:t>KriyaMandate: objective + hard limits</a:t>
                      </a:r>
                      <a:endParaRPr lang="en-US" sz="15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3F5F2"/>
                    </a:solidFill>
                  </a:tcPr>
                </a:tc>
              </a:tr>
              <a:tr h="533400">
                <a:tc>
                  <a:txBody>
                    <a:bodyPr/>
                    <a:lstStyle/>
                    <a:p>
                      <a:pPr indent="0" marL="0">
                        <a:buNone/>
                      </a:pPr>
                      <a:r>
                        <a:rPr lang="en-US" sz="1500" b="1" dirty="0">
                          <a:solidFill>
                            <a:srgbClr val="101820"/>
                          </a:solidFill>
                        </a:rPr>
                        <a:t>Intelligence</a:t>
                      </a:r>
                      <a:endParaRPr lang="en-US" sz="15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E7ECE6"/>
                    </a:solidFill>
                  </a:tcPr>
                </a:tc>
                <a:tc>
                  <a:txBody>
                    <a:bodyPr/>
                    <a:lstStyle/>
                    <a:p>
                      <a:pPr indent="0" marL="0">
                        <a:buNone/>
                      </a:pPr>
                      <a:r>
                        <a:rPr lang="en-US" sz="1500" dirty="0">
                          <a:solidFill>
                            <a:srgbClr val="101820"/>
                          </a:solidFill>
                        </a:rPr>
                        <a:t>How KRIYA decides</a:t>
                      </a:r>
                      <a:endParaRPr lang="en-US" sz="15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E7ECE6"/>
                    </a:solidFill>
                  </a:tcPr>
                </a:tc>
                <a:tc>
                  <a:txBody>
                    <a:bodyPr/>
                    <a:lstStyle/>
                    <a:p>
                      <a:pPr indent="0" marL="0">
                        <a:buNone/>
                      </a:pPr>
                      <a:r>
                        <a:rPr lang="en-US" sz="1500" dirty="0">
                          <a:solidFill>
                            <a:srgbClr val="101820"/>
                          </a:solidFill>
                        </a:rPr>
                        <a:t>Claude decision engine → typed allocation</a:t>
                      </a:r>
                      <a:endParaRPr lang="en-US" sz="15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E7ECE6"/>
                    </a:solidFill>
                  </a:tcPr>
                </a:tc>
              </a:tr>
              <a:tr h="533400">
                <a:tc>
                  <a:txBody>
                    <a:bodyPr/>
                    <a:lstStyle/>
                    <a:p>
                      <a:pPr indent="0" marL="0">
                        <a:buNone/>
                      </a:pPr>
                      <a:r>
                        <a:rPr lang="en-US" sz="1500" b="1" dirty="0">
                          <a:solidFill>
                            <a:srgbClr val="101820"/>
                          </a:solidFill>
                        </a:rPr>
                        <a:t>Verification</a:t>
                      </a:r>
                      <a:endParaRPr lang="en-US" sz="15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3F5F2"/>
                    </a:solidFill>
                  </a:tcPr>
                </a:tc>
                <a:tc>
                  <a:txBody>
                    <a:bodyPr/>
                    <a:lstStyle/>
                    <a:p>
                      <a:pPr indent="0" marL="0">
                        <a:buNone/>
                      </a:pPr>
                      <a:r>
                        <a:rPr lang="en-US" sz="1500" dirty="0">
                          <a:solidFill>
                            <a:srgbClr val="101820"/>
                          </a:solidFill>
                        </a:rPr>
                        <a:t>What reality says</a:t>
                      </a:r>
                      <a:endParaRPr lang="en-US" sz="15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3F5F2"/>
                    </a:solidFill>
                  </a:tcPr>
                </a:tc>
                <a:tc>
                  <a:txBody>
                    <a:bodyPr/>
                    <a:lstStyle/>
                    <a:p>
                      <a:pPr indent="0" marL="0">
                        <a:buNone/>
                      </a:pPr>
                      <a:r>
                        <a:rPr lang="en-US" sz="1500" dirty="0">
                          <a:solidFill>
                            <a:srgbClr val="101820"/>
                          </a:solidFill>
                        </a:rPr>
                        <a:t>Chainlink CRE: HTTP consensus + EVM reads</a:t>
                      </a:r>
                      <a:endParaRPr lang="en-US" sz="15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3F5F2"/>
                    </a:solidFill>
                  </a:tcPr>
                </a:tc>
              </a:tr>
              <a:tr h="533400">
                <a:tc>
                  <a:txBody>
                    <a:bodyPr/>
                    <a:lstStyle/>
                    <a:p>
                      <a:pPr indent="0" marL="0">
                        <a:buNone/>
                      </a:pPr>
                      <a:r>
                        <a:rPr lang="en-US" sz="1500" b="1" dirty="0">
                          <a:solidFill>
                            <a:srgbClr val="101820"/>
                          </a:solidFill>
                        </a:rPr>
                        <a:t>Enforcement</a:t>
                      </a:r>
                      <a:endParaRPr lang="en-US" sz="15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E7ECE6"/>
                    </a:solidFill>
                  </a:tcPr>
                </a:tc>
                <a:tc>
                  <a:txBody>
                    <a:bodyPr/>
                    <a:lstStyle/>
                    <a:p>
                      <a:pPr indent="0" marL="0">
                        <a:buNone/>
                      </a:pPr>
                      <a:r>
                        <a:rPr lang="en-US" sz="1500" dirty="0">
                          <a:solidFill>
                            <a:srgbClr val="101820"/>
                          </a:solidFill>
                        </a:rPr>
                        <a:t>What is permitted</a:t>
                      </a:r>
                      <a:endParaRPr lang="en-US" sz="15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E7ECE6"/>
                    </a:solidFill>
                  </a:tcPr>
                </a:tc>
                <a:tc>
                  <a:txBody>
                    <a:bodyPr/>
                    <a:lstStyle/>
                    <a:p>
                      <a:pPr indent="0" marL="0">
                        <a:buNone/>
                      </a:pPr>
                      <a:r>
                        <a:rPr lang="en-US" sz="1500" dirty="0">
                          <a:solidFill>
                            <a:srgbClr val="101820"/>
                          </a:solidFill>
                        </a:rPr>
                        <a:t>KriyaExecutor.validateAllocation, reverts</a:t>
                      </a:r>
                      <a:endParaRPr lang="en-US" sz="15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E7ECE6"/>
                    </a:solidFill>
                  </a:tcPr>
                </a:tc>
              </a:tr>
              <a:tr h="533400">
                <a:tc>
                  <a:txBody>
                    <a:bodyPr/>
                    <a:lstStyle/>
                    <a:p>
                      <a:pPr indent="0" marL="0">
                        <a:buNone/>
                      </a:pPr>
                      <a:r>
                        <a:rPr lang="en-US" sz="1500" b="1" dirty="0">
                          <a:solidFill>
                            <a:srgbClr val="101820"/>
                          </a:solidFill>
                        </a:rPr>
                        <a:t>Execution</a:t>
                      </a:r>
                      <a:endParaRPr lang="en-US" sz="15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3F5F2"/>
                    </a:solidFill>
                  </a:tcPr>
                </a:tc>
                <a:tc>
                  <a:txBody>
                    <a:bodyPr/>
                    <a:lstStyle/>
                    <a:p>
                      <a:pPr indent="0" marL="0">
                        <a:buNone/>
                      </a:pPr>
                      <a:r>
                        <a:rPr lang="en-US" sz="1500" dirty="0">
                          <a:solidFill>
                            <a:srgbClr val="101820"/>
                          </a:solidFill>
                        </a:rPr>
                        <a:t>What happens onchain</a:t>
                      </a:r>
                      <a:endParaRPr lang="en-US" sz="15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3F5F2"/>
                    </a:solidFill>
                  </a:tcPr>
                </a:tc>
                <a:tc>
                  <a:txBody>
                    <a:bodyPr/>
                    <a:lstStyle/>
                    <a:p>
                      <a:pPr indent="0" marL="0">
                        <a:buNone/>
                      </a:pPr>
                      <a:r>
                        <a:rPr lang="en-US" sz="1500" dirty="0">
                          <a:solidFill>
                            <a:srgbClr val="101820"/>
                          </a:solidFill>
                        </a:rPr>
                        <a:t>KriyaVault ⇄ allowlisted strategy vaults</a:t>
                      </a:r>
                      <a:endParaRPr lang="en-US" sz="15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3F5F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812800" y="812800"/>
            <a:ext cx="10566400" cy="228600"/>
          </a:xfrm>
          <a:prstGeom prst="rect">
            <a:avLst/>
          </a:prstGeom>
          <a:noFill/>
          <a:ln/>
        </p:spPr>
        <p:txBody>
          <a:bodyPr wrap="square" lIns="0" tIns="0" rIns="0" bIns="0" rtlCol="0" anchor="t"/>
          <a:lstStyle/>
          <a:p>
            <a:pPr algn="l" indent="0" marL="0">
              <a:buNone/>
            </a:pPr>
            <a:r>
              <a:rPr lang="en-US" sz="1200" spc="150" kern="0" dirty="0">
                <a:solidFill>
                  <a:schemeClr val="accent1"/>
                </a:solidFill>
                <a:latin typeface="Courier New" pitchFamily="34" charset="0"/>
                <a:ea typeface="Courier New" pitchFamily="34" charset="-122"/>
                <a:cs typeface="Courier New" pitchFamily="34" charset="-120"/>
              </a:rPr>
              <a:t>THE DECISION LOOP · CHAINLINK CRE WORKFLOW</a:t>
            </a:r>
            <a:endParaRPr lang="en-US" sz="1200" dirty="0"/>
          </a:p>
        </p:txBody>
      </p:sp>
      <p:sp>
        <p:nvSpPr>
          <p:cNvPr id="3" name="Text 0"/>
          <p:cNvSpPr/>
          <p:nvPr>
            <p:ph idx="100" type="title" hasCustomPrompt="1"/>
          </p:nvPr>
        </p:nvSpPr>
        <p:spPr>
          <a:xfrm>
            <a:off x="812800" y="1117600"/>
            <a:ext cx="10566400" cy="1143000"/>
          </a:xfrm>
          <a:prstGeom prst="rect">
            <a:avLst/>
          </a:prstGeom>
          <a:noFill/>
          <a:ln/>
        </p:spPr>
        <p:txBody>
          <a:bodyPr wrap="square" lIns="0" tIns="0" rIns="0" bIns="0" rtlCol="0" anchor="t"/>
          <a:lstStyle/>
          <a:p>
            <a:pPr algn="l" indent="0" marL="0">
              <a:buNone/>
            </a:pPr>
            <a:r>
              <a:rPr lang="en-US" sz="3600" b="1" dirty="0">
                <a:solidFill>
                  <a:srgbClr val="EEF2F6"/>
                </a:solidFill>
              </a:rPr>
              <a:t>One cron-triggered workflow closes the loop, every run</a:t>
            </a:r>
            <a:endParaRPr lang="en-US" sz="3600" dirty="0"/>
          </a:p>
        </p:txBody>
      </p:sp>
      <p:sp>
        <p:nvSpPr>
          <p:cNvPr id="4" name="OBSERVE card"/>
          <p:cNvSpPr/>
          <p:nvPr/>
        </p:nvSpPr>
        <p:spPr>
          <a:xfrm>
            <a:off x="812800" y="2667000"/>
            <a:ext cx="1528233" cy="1587500"/>
          </a:xfrm>
          <a:prstGeom prst="roundRect">
            <a:avLst>
              <a:gd name="adj" fmla="val 6648"/>
            </a:avLst>
          </a:prstGeom>
          <a:solidFill>
            <a:srgbClr val="141A22"/>
          </a:solidFill>
          <a:ln w="9525">
            <a:solidFill>
              <a:srgbClr val="263040"/>
            </a:solidFill>
            <a:prstDash val="solid"/>
          </a:ln>
        </p:spPr>
      </p:sp>
      <p:sp>
        <p:nvSpPr>
          <p:cNvPr id="5" name="Text 3"/>
          <p:cNvSpPr txBox="1"/>
          <p:nvPr/>
        </p:nvSpPr>
        <p:spPr>
          <a:xfrm>
            <a:off x="952500" y="2832100"/>
            <a:ext cx="1248833" cy="228600"/>
          </a:xfrm>
          <a:prstGeom prst="rect">
            <a:avLst/>
          </a:prstGeom>
          <a:noFill/>
          <a:ln/>
        </p:spPr>
        <p:txBody>
          <a:bodyPr wrap="square" lIns="0" tIns="0" rIns="0" bIns="0" rtlCol="0" anchor="t"/>
          <a:lstStyle/>
          <a:p>
            <a:pPr algn="l" indent="0" marL="0">
              <a:buNone/>
            </a:pPr>
            <a:r>
              <a:rPr lang="en-US" sz="1200" b="1" dirty="0">
                <a:solidFill>
                  <a:schemeClr val="accent1"/>
                </a:solidFill>
                <a:latin typeface="Courier New" pitchFamily="34" charset="0"/>
                <a:ea typeface="Courier New" pitchFamily="34" charset="-122"/>
                <a:cs typeface="Courier New" pitchFamily="34" charset="-120"/>
              </a:rPr>
              <a:t>OBSERVE</a:t>
            </a:r>
            <a:endParaRPr lang="en-US" sz="1200" dirty="0"/>
          </a:p>
        </p:txBody>
      </p:sp>
      <p:sp>
        <p:nvSpPr>
          <p:cNvPr id="6" name="Text 4"/>
          <p:cNvSpPr txBox="1"/>
          <p:nvPr/>
        </p:nvSpPr>
        <p:spPr>
          <a:xfrm>
            <a:off x="952500" y="3175000"/>
            <a:ext cx="1248833" cy="952500"/>
          </a:xfrm>
          <a:prstGeom prst="rect">
            <a:avLst/>
          </a:prstGeom>
          <a:noFill/>
          <a:ln/>
        </p:spPr>
        <p:txBody>
          <a:bodyPr wrap="square" lIns="0" tIns="0" rIns="0" bIns="0" rtlCol="0" anchor="t"/>
          <a:lstStyle/>
          <a:p>
            <a:pPr algn="l" indent="0" marL="0">
              <a:lnSpc>
                <a:spcPct val="125000"/>
              </a:lnSpc>
              <a:buNone/>
            </a:pPr>
            <a:r>
              <a:rPr lang="en-US" sz="1200" dirty="0">
                <a:solidFill>
                  <a:srgbClr val="9AA8BA"/>
                </a:solidFill>
              </a:rPr>
              <a:t>Risk feed via HTTP, DON consensus</a:t>
            </a:r>
            <a:endParaRPr lang="en-US" sz="1200" dirty="0"/>
          </a:p>
        </p:txBody>
      </p:sp>
      <p:sp>
        <p:nvSpPr>
          <p:cNvPr id="7" name="Arrow 1"/>
          <p:cNvSpPr/>
          <p:nvPr/>
        </p:nvSpPr>
        <p:spPr>
          <a:xfrm>
            <a:off x="2391833" y="3365500"/>
            <a:ext cx="177800" cy="177800"/>
          </a:xfrm>
          <a:prstGeom prst="rightArrow">
            <a:avLst/>
          </a:prstGeom>
          <a:solidFill>
            <a:srgbClr val="5AA8FF"/>
          </a:solidFill>
          <a:ln/>
        </p:spPr>
      </p:sp>
      <p:sp>
        <p:nvSpPr>
          <p:cNvPr id="8" name="VERIFY card"/>
          <p:cNvSpPr/>
          <p:nvPr/>
        </p:nvSpPr>
        <p:spPr>
          <a:xfrm>
            <a:off x="2620433" y="2667000"/>
            <a:ext cx="1528233" cy="1587500"/>
          </a:xfrm>
          <a:prstGeom prst="roundRect">
            <a:avLst>
              <a:gd name="adj" fmla="val 6648"/>
            </a:avLst>
          </a:prstGeom>
          <a:solidFill>
            <a:srgbClr val="141A22"/>
          </a:solidFill>
          <a:ln w="9525">
            <a:solidFill>
              <a:srgbClr val="263040"/>
            </a:solidFill>
            <a:prstDash val="solid"/>
          </a:ln>
        </p:spPr>
      </p:sp>
      <p:sp>
        <p:nvSpPr>
          <p:cNvPr id="9" name="Text 7"/>
          <p:cNvSpPr txBox="1"/>
          <p:nvPr/>
        </p:nvSpPr>
        <p:spPr>
          <a:xfrm>
            <a:off x="2760133" y="2832100"/>
            <a:ext cx="1248833" cy="228600"/>
          </a:xfrm>
          <a:prstGeom prst="rect">
            <a:avLst/>
          </a:prstGeom>
          <a:noFill/>
          <a:ln/>
        </p:spPr>
        <p:txBody>
          <a:bodyPr wrap="square" lIns="0" tIns="0" rIns="0" bIns="0" rtlCol="0" anchor="t"/>
          <a:lstStyle/>
          <a:p>
            <a:pPr algn="l" indent="0" marL="0">
              <a:buNone/>
            </a:pPr>
            <a:r>
              <a:rPr lang="en-US" sz="1200" b="1" dirty="0">
                <a:solidFill>
                  <a:schemeClr val="accent1"/>
                </a:solidFill>
                <a:latin typeface="Courier New" pitchFamily="34" charset="0"/>
                <a:ea typeface="Courier New" pitchFamily="34" charset="-122"/>
                <a:cs typeface="Courier New" pitchFamily="34" charset="-120"/>
              </a:rPr>
              <a:t>VERIFY</a:t>
            </a:r>
            <a:endParaRPr lang="en-US" sz="1200" dirty="0"/>
          </a:p>
        </p:txBody>
      </p:sp>
      <p:sp>
        <p:nvSpPr>
          <p:cNvPr id="10" name="Text 8"/>
          <p:cNvSpPr txBox="1"/>
          <p:nvPr/>
        </p:nvSpPr>
        <p:spPr>
          <a:xfrm>
            <a:off x="2760133" y="3175000"/>
            <a:ext cx="1248833" cy="952500"/>
          </a:xfrm>
          <a:prstGeom prst="rect">
            <a:avLst/>
          </a:prstGeom>
          <a:noFill/>
          <a:ln/>
        </p:spPr>
        <p:txBody>
          <a:bodyPr wrap="square" lIns="0" tIns="0" rIns="0" bIns="0" rtlCol="0" anchor="t"/>
          <a:lstStyle/>
          <a:p>
            <a:pPr algn="l" indent="0" marL="0">
              <a:lnSpc>
                <a:spcPct val="125000"/>
              </a:lnSpc>
              <a:buNone/>
            </a:pPr>
            <a:r>
              <a:rPr lang="en-US" sz="1200" dirty="0">
                <a:solidFill>
                  <a:srgbClr val="9AA8BA"/>
                </a:solidFill>
              </a:rPr>
              <a:t>Changed risk → signed report onchain</a:t>
            </a:r>
            <a:endParaRPr lang="en-US" sz="1200" dirty="0"/>
          </a:p>
        </p:txBody>
      </p:sp>
      <p:sp>
        <p:nvSpPr>
          <p:cNvPr id="11" name="Arrow 2"/>
          <p:cNvSpPr/>
          <p:nvPr/>
        </p:nvSpPr>
        <p:spPr>
          <a:xfrm>
            <a:off x="4199467" y="3365500"/>
            <a:ext cx="177800" cy="177800"/>
          </a:xfrm>
          <a:prstGeom prst="rightArrow">
            <a:avLst/>
          </a:prstGeom>
          <a:solidFill>
            <a:srgbClr val="5AA8FF"/>
          </a:solidFill>
          <a:ln/>
        </p:spPr>
      </p:sp>
      <p:sp>
        <p:nvSpPr>
          <p:cNvPr id="12" name="DETECT card"/>
          <p:cNvSpPr/>
          <p:nvPr/>
        </p:nvSpPr>
        <p:spPr>
          <a:xfrm>
            <a:off x="4428067" y="2667000"/>
            <a:ext cx="1528233" cy="1587500"/>
          </a:xfrm>
          <a:prstGeom prst="roundRect">
            <a:avLst>
              <a:gd name="adj" fmla="val 6648"/>
            </a:avLst>
          </a:prstGeom>
          <a:solidFill>
            <a:srgbClr val="141A22"/>
          </a:solidFill>
          <a:ln w="9525">
            <a:solidFill>
              <a:srgbClr val="263040"/>
            </a:solidFill>
            <a:prstDash val="solid"/>
          </a:ln>
        </p:spPr>
      </p:sp>
      <p:sp>
        <p:nvSpPr>
          <p:cNvPr id="13" name="Text 11"/>
          <p:cNvSpPr txBox="1"/>
          <p:nvPr/>
        </p:nvSpPr>
        <p:spPr>
          <a:xfrm>
            <a:off x="4567767" y="2832100"/>
            <a:ext cx="1248833" cy="228600"/>
          </a:xfrm>
          <a:prstGeom prst="rect">
            <a:avLst/>
          </a:prstGeom>
          <a:noFill/>
          <a:ln/>
        </p:spPr>
        <p:txBody>
          <a:bodyPr wrap="square" lIns="0" tIns="0" rIns="0" bIns="0" rtlCol="0" anchor="t"/>
          <a:lstStyle/>
          <a:p>
            <a:pPr algn="l" indent="0" marL="0">
              <a:buNone/>
            </a:pPr>
            <a:r>
              <a:rPr lang="en-US" sz="1200" b="1" dirty="0">
                <a:solidFill>
                  <a:schemeClr val="accent1"/>
                </a:solidFill>
                <a:latin typeface="Courier New" pitchFamily="34" charset="0"/>
                <a:ea typeface="Courier New" pitchFamily="34" charset="-122"/>
                <a:cs typeface="Courier New" pitchFamily="34" charset="-120"/>
              </a:rPr>
              <a:t>DETECT</a:t>
            </a:r>
            <a:endParaRPr lang="en-US" sz="1200" dirty="0"/>
          </a:p>
        </p:txBody>
      </p:sp>
      <p:sp>
        <p:nvSpPr>
          <p:cNvPr id="14" name="Text 12"/>
          <p:cNvSpPr txBox="1"/>
          <p:nvPr/>
        </p:nvSpPr>
        <p:spPr>
          <a:xfrm>
            <a:off x="4567767" y="3175000"/>
            <a:ext cx="1248833" cy="952500"/>
          </a:xfrm>
          <a:prstGeom prst="rect">
            <a:avLst/>
          </a:prstGeom>
          <a:noFill/>
          <a:ln/>
        </p:spPr>
        <p:txBody>
          <a:bodyPr wrap="square" lIns="0" tIns="0" rIns="0" bIns="0" rtlCol="0" anchor="t"/>
          <a:lstStyle/>
          <a:p>
            <a:pPr algn="l" indent="0" marL="0">
              <a:lnSpc>
                <a:spcPct val="125000"/>
              </a:lnSpc>
              <a:buNone/>
            </a:pPr>
            <a:r>
              <a:rPr lang="en-US" sz="1200" dirty="0">
                <a:solidFill>
                  <a:srgbClr val="9AA8BA"/>
                </a:solidFill>
              </a:rPr>
              <a:t>Mandate health under verified risk</a:t>
            </a:r>
            <a:endParaRPr lang="en-US" sz="1200" dirty="0"/>
          </a:p>
        </p:txBody>
      </p:sp>
      <p:sp>
        <p:nvSpPr>
          <p:cNvPr id="15" name="Arrow 3"/>
          <p:cNvSpPr/>
          <p:nvPr/>
        </p:nvSpPr>
        <p:spPr>
          <a:xfrm>
            <a:off x="6007100" y="3365500"/>
            <a:ext cx="177800" cy="177800"/>
          </a:xfrm>
          <a:prstGeom prst="rightArrow">
            <a:avLst/>
          </a:prstGeom>
          <a:solidFill>
            <a:srgbClr val="5AA8FF"/>
          </a:solidFill>
          <a:ln/>
        </p:spPr>
      </p:sp>
      <p:sp>
        <p:nvSpPr>
          <p:cNvPr id="16" name="DECIDE card"/>
          <p:cNvSpPr/>
          <p:nvPr/>
        </p:nvSpPr>
        <p:spPr>
          <a:xfrm>
            <a:off x="6235700" y="2667000"/>
            <a:ext cx="1528233" cy="1587500"/>
          </a:xfrm>
          <a:prstGeom prst="roundRect">
            <a:avLst>
              <a:gd name="adj" fmla="val 6648"/>
            </a:avLst>
          </a:prstGeom>
          <a:solidFill>
            <a:srgbClr val="141A22"/>
          </a:solidFill>
          <a:ln w="9525">
            <a:solidFill>
              <a:srgbClr val="263040"/>
            </a:solidFill>
            <a:prstDash val="solid"/>
          </a:ln>
        </p:spPr>
      </p:sp>
      <p:sp>
        <p:nvSpPr>
          <p:cNvPr id="17" name="Text 15"/>
          <p:cNvSpPr txBox="1"/>
          <p:nvPr/>
        </p:nvSpPr>
        <p:spPr>
          <a:xfrm>
            <a:off x="6375400" y="2832100"/>
            <a:ext cx="1248833" cy="228600"/>
          </a:xfrm>
          <a:prstGeom prst="rect">
            <a:avLst/>
          </a:prstGeom>
          <a:noFill/>
          <a:ln/>
        </p:spPr>
        <p:txBody>
          <a:bodyPr wrap="square" lIns="0" tIns="0" rIns="0" bIns="0" rtlCol="0" anchor="t"/>
          <a:lstStyle/>
          <a:p>
            <a:pPr algn="l" indent="0" marL="0">
              <a:buNone/>
            </a:pPr>
            <a:r>
              <a:rPr lang="en-US" sz="1200" b="1" dirty="0">
                <a:solidFill>
                  <a:schemeClr val="accent1"/>
                </a:solidFill>
                <a:latin typeface="Courier New" pitchFamily="34" charset="0"/>
                <a:ea typeface="Courier New" pitchFamily="34" charset="-122"/>
                <a:cs typeface="Courier New" pitchFamily="34" charset="-120"/>
              </a:rPr>
              <a:t>DECIDE</a:t>
            </a:r>
            <a:endParaRPr lang="en-US" sz="1200" dirty="0"/>
          </a:p>
        </p:txBody>
      </p:sp>
      <p:sp>
        <p:nvSpPr>
          <p:cNvPr id="18" name="Text 16"/>
          <p:cNvSpPr txBox="1"/>
          <p:nvPr/>
        </p:nvSpPr>
        <p:spPr>
          <a:xfrm>
            <a:off x="6375400" y="3175000"/>
            <a:ext cx="1248833" cy="952500"/>
          </a:xfrm>
          <a:prstGeom prst="rect">
            <a:avLst/>
          </a:prstGeom>
          <a:noFill/>
          <a:ln/>
        </p:spPr>
        <p:txBody>
          <a:bodyPr wrap="square" lIns="0" tIns="0" rIns="0" bIns="0" rtlCol="0" anchor="t"/>
          <a:lstStyle/>
          <a:p>
            <a:pPr algn="l" indent="0" marL="0">
              <a:lnSpc>
                <a:spcPct val="125000"/>
              </a:lnSpc>
              <a:buNone/>
            </a:pPr>
            <a:r>
              <a:rPr lang="en-US" sz="1200" dirty="0">
                <a:solidFill>
                  <a:srgbClr val="9AA8BA"/>
                </a:solidFill>
              </a:rPr>
              <a:t>Claude returns a typed allocation</a:t>
            </a:r>
            <a:endParaRPr lang="en-US" sz="1200" dirty="0"/>
          </a:p>
        </p:txBody>
      </p:sp>
      <p:sp>
        <p:nvSpPr>
          <p:cNvPr id="19" name="Arrow 4"/>
          <p:cNvSpPr/>
          <p:nvPr/>
        </p:nvSpPr>
        <p:spPr>
          <a:xfrm>
            <a:off x="7814733" y="3365500"/>
            <a:ext cx="177800" cy="177800"/>
          </a:xfrm>
          <a:prstGeom prst="rightArrow">
            <a:avLst/>
          </a:prstGeom>
          <a:solidFill>
            <a:srgbClr val="5AA8FF"/>
          </a:solidFill>
          <a:ln/>
        </p:spPr>
      </p:sp>
      <p:sp>
        <p:nvSpPr>
          <p:cNvPr id="20" name="CONSTRAIN card"/>
          <p:cNvSpPr/>
          <p:nvPr/>
        </p:nvSpPr>
        <p:spPr>
          <a:xfrm>
            <a:off x="8043333" y="2667000"/>
            <a:ext cx="1528233" cy="1587500"/>
          </a:xfrm>
          <a:prstGeom prst="roundRect">
            <a:avLst>
              <a:gd name="adj" fmla="val 6648"/>
            </a:avLst>
          </a:prstGeom>
          <a:solidFill>
            <a:srgbClr val="141A22"/>
          </a:solidFill>
          <a:ln w="9525">
            <a:solidFill>
              <a:srgbClr val="263040"/>
            </a:solidFill>
            <a:prstDash val="solid"/>
          </a:ln>
        </p:spPr>
      </p:sp>
      <p:sp>
        <p:nvSpPr>
          <p:cNvPr id="21" name="Text 19"/>
          <p:cNvSpPr txBox="1"/>
          <p:nvPr/>
        </p:nvSpPr>
        <p:spPr>
          <a:xfrm>
            <a:off x="8183033" y="2832100"/>
            <a:ext cx="1248833" cy="228600"/>
          </a:xfrm>
          <a:prstGeom prst="rect">
            <a:avLst/>
          </a:prstGeom>
          <a:noFill/>
          <a:ln/>
        </p:spPr>
        <p:txBody>
          <a:bodyPr wrap="square" lIns="0" tIns="0" rIns="0" bIns="0" rtlCol="0" anchor="t"/>
          <a:lstStyle/>
          <a:p>
            <a:pPr algn="l" indent="0" marL="0">
              <a:buNone/>
            </a:pPr>
            <a:r>
              <a:rPr lang="en-US" sz="1200" b="1" dirty="0">
                <a:solidFill>
                  <a:schemeClr val="accent1"/>
                </a:solidFill>
                <a:latin typeface="Courier New" pitchFamily="34" charset="0"/>
                <a:ea typeface="Courier New" pitchFamily="34" charset="-122"/>
                <a:cs typeface="Courier New" pitchFamily="34" charset="-120"/>
              </a:rPr>
              <a:t>CONSTRAIN</a:t>
            </a:r>
            <a:endParaRPr lang="en-US" sz="1200" dirty="0"/>
          </a:p>
        </p:txBody>
      </p:sp>
      <p:sp>
        <p:nvSpPr>
          <p:cNvPr id="22" name="Text 20"/>
          <p:cNvSpPr txBox="1"/>
          <p:nvPr/>
        </p:nvSpPr>
        <p:spPr>
          <a:xfrm>
            <a:off x="8183033" y="3175000"/>
            <a:ext cx="1248833" cy="952500"/>
          </a:xfrm>
          <a:prstGeom prst="rect">
            <a:avLst/>
          </a:prstGeom>
          <a:noFill/>
          <a:ln/>
        </p:spPr>
        <p:txBody>
          <a:bodyPr wrap="square" lIns="0" tIns="0" rIns="0" bIns="0" rtlCol="0" anchor="t"/>
          <a:lstStyle/>
          <a:p>
            <a:pPr algn="l" indent="0" marL="0">
              <a:lnSpc>
                <a:spcPct val="125000"/>
              </a:lnSpc>
              <a:buNone/>
            </a:pPr>
            <a:r>
              <a:rPr lang="en-US" sz="1200" dirty="0">
                <a:solidFill>
                  <a:srgbClr val="9AA8BA"/>
                </a:solidFill>
              </a:rPr>
              <a:t>Policy re-checked inside the workflow</a:t>
            </a:r>
            <a:endParaRPr lang="en-US" sz="1200" dirty="0"/>
          </a:p>
        </p:txBody>
      </p:sp>
      <p:sp>
        <p:nvSpPr>
          <p:cNvPr id="23" name="Arrow 5"/>
          <p:cNvSpPr/>
          <p:nvPr/>
        </p:nvSpPr>
        <p:spPr>
          <a:xfrm>
            <a:off x="9622367" y="3365500"/>
            <a:ext cx="177800" cy="177800"/>
          </a:xfrm>
          <a:prstGeom prst="rightArrow">
            <a:avLst/>
          </a:prstGeom>
          <a:solidFill>
            <a:srgbClr val="5AA8FF"/>
          </a:solidFill>
          <a:ln/>
        </p:spPr>
      </p:sp>
      <p:sp>
        <p:nvSpPr>
          <p:cNvPr id="24" name="EXECUTE card"/>
          <p:cNvSpPr/>
          <p:nvPr/>
        </p:nvSpPr>
        <p:spPr>
          <a:xfrm>
            <a:off x="9850967" y="2667000"/>
            <a:ext cx="1528233" cy="1587500"/>
          </a:xfrm>
          <a:prstGeom prst="roundRect">
            <a:avLst>
              <a:gd name="adj" fmla="val 6648"/>
            </a:avLst>
          </a:prstGeom>
          <a:solidFill>
            <a:srgbClr val="141A22"/>
          </a:solidFill>
          <a:ln w="9525">
            <a:solidFill>
              <a:srgbClr val="5AA8FF"/>
            </a:solidFill>
            <a:prstDash val="solid"/>
          </a:ln>
        </p:spPr>
      </p:sp>
      <p:sp>
        <p:nvSpPr>
          <p:cNvPr id="25" name="Text 23"/>
          <p:cNvSpPr txBox="1"/>
          <p:nvPr/>
        </p:nvSpPr>
        <p:spPr>
          <a:xfrm>
            <a:off x="9990667" y="2832100"/>
            <a:ext cx="1248833" cy="228600"/>
          </a:xfrm>
          <a:prstGeom prst="rect">
            <a:avLst/>
          </a:prstGeom>
          <a:noFill/>
          <a:ln/>
        </p:spPr>
        <p:txBody>
          <a:bodyPr wrap="square" lIns="0" tIns="0" rIns="0" bIns="0" rtlCol="0" anchor="t"/>
          <a:lstStyle/>
          <a:p>
            <a:pPr algn="l" indent="0" marL="0">
              <a:buNone/>
            </a:pPr>
            <a:r>
              <a:rPr lang="en-US" sz="1200" b="1" dirty="0">
                <a:solidFill>
                  <a:schemeClr val="accent2"/>
                </a:solidFill>
                <a:latin typeface="Courier New" pitchFamily="34" charset="0"/>
                <a:ea typeface="Courier New" pitchFamily="34" charset="-122"/>
                <a:cs typeface="Courier New" pitchFamily="34" charset="-120"/>
              </a:rPr>
              <a:t>EXECUTE</a:t>
            </a:r>
            <a:endParaRPr lang="en-US" sz="1200" dirty="0"/>
          </a:p>
        </p:txBody>
      </p:sp>
      <p:sp>
        <p:nvSpPr>
          <p:cNvPr id="26" name="Text 24"/>
          <p:cNvSpPr txBox="1"/>
          <p:nvPr/>
        </p:nvSpPr>
        <p:spPr>
          <a:xfrm>
            <a:off x="9990667" y="3175000"/>
            <a:ext cx="1248833" cy="952500"/>
          </a:xfrm>
          <a:prstGeom prst="rect">
            <a:avLst/>
          </a:prstGeom>
          <a:noFill/>
          <a:ln/>
        </p:spPr>
        <p:txBody>
          <a:bodyPr wrap="square" lIns="0" tIns="0" rIns="0" bIns="0" rtlCol="0" anchor="t"/>
          <a:lstStyle/>
          <a:p>
            <a:pPr algn="l" indent="0" marL="0">
              <a:lnSpc>
                <a:spcPct val="125000"/>
              </a:lnSpc>
              <a:buNone/>
            </a:pPr>
            <a:r>
              <a:rPr lang="en-US" sz="1200" dirty="0">
                <a:solidFill>
                  <a:srgbClr val="9AA8BA"/>
                </a:solidFill>
              </a:rPr>
              <a:t>Report → KriyaExecutor.onReport</a:t>
            </a:r>
            <a:endParaRPr lang="en-US" sz="1200" dirty="0"/>
          </a:p>
        </p:txBody>
      </p:sp>
      <p:sp>
        <p:nvSpPr>
          <p:cNvPr id="27" name="Rulebook"/>
          <p:cNvSpPr txBox="1"/>
          <p:nvPr/>
        </p:nvSpPr>
        <p:spPr>
          <a:xfrm>
            <a:off x="812800" y="4572000"/>
            <a:ext cx="10160000" cy="825500"/>
          </a:xfrm>
          <a:prstGeom prst="rect">
            <a:avLst/>
          </a:prstGeom>
          <a:noFill/>
          <a:ln/>
        </p:spPr>
        <p:txBody>
          <a:bodyPr wrap="square" lIns="0" tIns="0" rIns="0" bIns="0" rtlCol="0" anchor="t"/>
          <a:lstStyle/>
          <a:p>
            <a:pPr algn="l" indent="0" marL="0">
              <a:lnSpc>
                <a:spcPct val="130000"/>
              </a:lnSpc>
              <a:buNone/>
            </a:pPr>
            <a:r>
              <a:rPr lang="en-US" sz="1500" dirty="0">
                <a:solidFill>
                  <a:srgbClr val="9AA8BA"/>
                </a:solidFill>
              </a:rPr>
              <a:t>One rulebook (</a:t>
            </a:r>
            <a:pPr algn="l" indent="0" marL="0">
              <a:lnSpc>
                <a:spcPct val="130000"/>
              </a:lnSpc>
              <a:buNone/>
            </a:pPr>
            <a:r>
              <a:rPr lang="en-US" sz="1500" dirty="0">
                <a:solidFill>
                  <a:srgbClr val="EEF2F6"/>
                </a:solidFill>
                <a:latin typeface="Courier New" pitchFamily="34" charset="0"/>
                <a:ea typeface="Courier New" pitchFamily="34" charset="-122"/>
                <a:cs typeface="Courier New" pitchFamily="34" charset="-120"/>
              </a:rPr>
              <a:t>policy.ts</a:t>
            </a:r>
            <a:pPr algn="l" indent="0" marL="0">
              <a:lnSpc>
                <a:spcPct val="130000"/>
              </a:lnSpc>
              <a:buNone/>
            </a:pPr>
            <a:r>
              <a:rPr lang="en-US" sz="1500" dirty="0">
                <a:solidFill>
                  <a:srgbClr val="9AA8BA"/>
                </a:solidFill>
              </a:rPr>
              <a:t>) is shared by the agent and the CRE workflow, compiled to WASM, and mirrored in Solidity. A server keeper runs the identical loop as a fallback path.</a:t>
            </a:r>
            <a:endParaRPr lang="en-US" sz="1500" dirty="0"/>
          </a:p>
        </p:txBody>
      </p:sp>
      <p:sp>
        <p:nvSpPr>
          <p:cNvPr id="28" name="Footer"/>
          <p:cNvSpPr txBox="1"/>
          <p:nvPr/>
        </p:nvSpPr>
        <p:spPr>
          <a:xfrm>
            <a:off x="812800" y="6045200"/>
            <a:ext cx="10566400" cy="254000"/>
          </a:xfrm>
          <a:prstGeom prst="rect">
            <a:avLst/>
          </a:prstGeom>
          <a:noFill/>
          <a:ln/>
        </p:spPr>
        <p:txBody>
          <a:bodyPr wrap="square" lIns="0" tIns="0" rIns="0" bIns="0" rtlCol="0" anchor="t"/>
          <a:lstStyle/>
          <a:p>
            <a:pPr algn="l" indent="0" marL="0">
              <a:buNone/>
            </a:pPr>
            <a:r>
              <a:rPr lang="en-US" sz="1200" dirty="0">
                <a:solidFill>
                  <a:srgbClr val="6B7A8F"/>
                </a:solidFill>
                <a:latin typeface="Courier New" pitchFamily="34" charset="0"/>
                <a:ea typeface="Courier New" pitchFamily="34" charset="-122"/>
                <a:cs typeface="Courier New" pitchFamily="34" charset="-120"/>
              </a:rPr>
              <a:t>cre/kriya-workflow/main.ts · TypeScript → WASM · reports routed through the Keystone forwarder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812800" y="1587500"/>
            <a:ext cx="4826000" cy="228600"/>
          </a:xfrm>
          <a:prstGeom prst="rect">
            <a:avLst/>
          </a:prstGeom>
          <a:noFill/>
          <a:ln/>
        </p:spPr>
        <p:txBody>
          <a:bodyPr wrap="square" lIns="0" tIns="0" rIns="0" bIns="0" rtlCol="0" anchor="t"/>
          <a:lstStyle/>
          <a:p>
            <a:pPr algn="l" indent="0" marL="0">
              <a:buNone/>
            </a:pPr>
            <a:r>
              <a:rPr lang="en-US" sz="1200" spc="150" kern="0" dirty="0">
                <a:solidFill>
                  <a:schemeClr val="accent5"/>
                </a:solidFill>
                <a:latin typeface="Courier New" pitchFamily="34" charset="0"/>
                <a:ea typeface="Courier New" pitchFamily="34" charset="-122"/>
                <a:cs typeface="Courier New" pitchFamily="34" charset="-120"/>
              </a:rPr>
              <a:t>SECURITY BOUNDARY</a:t>
            </a:r>
            <a:endParaRPr lang="en-US" sz="1200" dirty="0"/>
          </a:p>
        </p:txBody>
      </p:sp>
      <p:sp>
        <p:nvSpPr>
          <p:cNvPr id="3" name="Boundary"/>
          <p:cNvSpPr txBox="1"/>
          <p:nvPr/>
        </p:nvSpPr>
        <p:spPr>
          <a:xfrm>
            <a:off x="812800" y="1905000"/>
            <a:ext cx="4826000" cy="2413000"/>
          </a:xfrm>
          <a:prstGeom prst="rect">
            <a:avLst/>
          </a:prstGeom>
          <a:noFill/>
          <a:ln/>
        </p:spPr>
        <p:txBody>
          <a:bodyPr wrap="square" lIns="0" tIns="0" rIns="0" bIns="0" rtlCol="0" anchor="t"/>
          <a:lstStyle/>
          <a:p>
            <a:pPr algn="l" indent="0" marL="0">
              <a:lnSpc>
                <a:spcPct val="105000"/>
              </a:lnSpc>
              <a:buNone/>
            </a:pPr>
            <a:r>
              <a:rPr lang="en-US" sz="3600" b="1" dirty="0">
                <a:solidFill>
                  <a:schemeClr val="tx2"/>
                </a:solidFill>
              </a:rPr>
              <a:t>AI proposes.</a:t>
            </a:r>
            <a:endParaRPr lang="en-US" sz="3600" dirty="0"/>
          </a:p>
          <a:p>
            <a:pPr algn="l" indent="0" marL="0">
              <a:lnSpc>
                <a:spcPct val="105000"/>
              </a:lnSpc>
              <a:buNone/>
            </a:pPr>
            <a:r>
              <a:rPr lang="en-US" sz="3600" b="1" dirty="0">
                <a:solidFill>
                  <a:schemeClr val="tx2"/>
                </a:solidFill>
              </a:rPr>
              <a:t>Rules constrain.</a:t>
            </a:r>
            <a:endParaRPr lang="en-US" sz="3600" dirty="0"/>
          </a:p>
          <a:p>
            <a:pPr algn="l" indent="0" marL="0">
              <a:lnSpc>
                <a:spcPct val="105000"/>
              </a:lnSpc>
              <a:buNone/>
            </a:pPr>
            <a:r>
              <a:rPr lang="en-US" sz="3600" b="1" dirty="0">
                <a:solidFill>
                  <a:schemeClr val="tx2"/>
                </a:solidFill>
              </a:rPr>
              <a:t>CRE verifies.</a:t>
            </a:r>
            <a:endParaRPr lang="en-US" sz="3600" dirty="0"/>
          </a:p>
          <a:p>
            <a:pPr algn="l" indent="0" marL="0">
              <a:lnSpc>
                <a:spcPct val="105000"/>
              </a:lnSpc>
              <a:buNone/>
            </a:pPr>
            <a:r>
              <a:rPr lang="en-US" sz="3600" b="1" dirty="0">
                <a:solidFill>
                  <a:srgbClr val="0B7A5C"/>
                </a:solidFill>
              </a:rPr>
              <a:t>Contracts enforce.</a:t>
            </a:r>
            <a:endParaRPr lang="en-US" sz="3600" dirty="0"/>
          </a:p>
        </p:txBody>
      </p:sp>
      <p:sp>
        <p:nvSpPr>
          <p:cNvPr id="4" name="Custody"/>
          <p:cNvSpPr txBox="1"/>
          <p:nvPr/>
        </p:nvSpPr>
        <p:spPr>
          <a:xfrm>
            <a:off x="6248400" y="1270000"/>
            <a:ext cx="5130800" cy="1460500"/>
          </a:xfrm>
          <a:prstGeom prst="rect">
            <a:avLst/>
          </a:prstGeom>
          <a:noFill/>
          <a:ln/>
        </p:spPr>
        <p:txBody>
          <a:bodyPr wrap="square" lIns="0" tIns="0" rIns="0" bIns="0" rtlCol="0" anchor="t"/>
          <a:lstStyle/>
          <a:p>
            <a:pPr algn="l" indent="0" marL="0">
              <a:lnSpc>
                <a:spcPct val="130000"/>
              </a:lnSpc>
              <a:buNone/>
            </a:pPr>
            <a:r>
              <a:rPr lang="en-US" sz="1600" dirty="0">
                <a:solidFill>
                  <a:schemeClr val="tx2"/>
                </a:solidFill>
              </a:rPr>
              <a:t>The agent never holds user funds. Its key can only call </a:t>
            </a:r>
            <a:pPr algn="l" indent="0" marL="0">
              <a:lnSpc>
                <a:spcPct val="130000"/>
              </a:lnSpc>
              <a:buNone/>
            </a:pPr>
            <a:r>
              <a:rPr lang="en-US" sz="1600" b="1" dirty="0">
                <a:solidFill>
                  <a:srgbClr val="101820"/>
                </a:solidFill>
              </a:rPr>
              <a:t>executeAllocation</a:t>
            </a:r>
            <a:pPr algn="l" indent="0" marL="0">
              <a:lnSpc>
                <a:spcPct val="130000"/>
              </a:lnSpc>
              <a:buNone/>
            </a:pPr>
            <a:r>
              <a:rPr lang="en-US" sz="1600" dirty="0">
                <a:solidFill>
                  <a:schemeClr val="tx2"/>
                </a:solidFill>
              </a:rPr>
              <a:t>, which runs the same onchain checks as CRE reports. Funds move only vault ⇄ allowlisted strategies.</a:t>
            </a:r>
            <a:endParaRPr lang="en-US" sz="1600" dirty="0"/>
          </a:p>
        </p:txBody>
      </p:sp>
      <p:sp>
        <p:nvSpPr>
          <p:cNvPr id="5" name="Text 3"/>
          <p:cNvSpPr txBox="1"/>
          <p:nvPr/>
        </p:nvSpPr>
        <p:spPr>
          <a:xfrm>
            <a:off x="6248400" y="2921000"/>
            <a:ext cx="5130800" cy="254000"/>
          </a:xfrm>
          <a:prstGeom prst="rect">
            <a:avLst/>
          </a:prstGeom>
          <a:noFill/>
          <a:ln/>
        </p:spPr>
        <p:txBody>
          <a:bodyPr wrap="square" lIns="0" tIns="0" rIns="0" bIns="0" rtlCol="0" anchor="t"/>
          <a:lstStyle/>
          <a:p>
            <a:pPr algn="l" indent="0" marL="0">
              <a:buNone/>
            </a:pPr>
            <a:r>
              <a:rPr lang="en-US" sz="1300" dirty="0">
                <a:solidFill>
                  <a:srgbClr val="4A5568"/>
                </a:solidFill>
              </a:rPr>
              <a:t>An allocation outside the mandate reverts with a typed error:</a:t>
            </a:r>
            <a:endParaRPr lang="en-US" sz="1300" dirty="0"/>
          </a:p>
        </p:txBody>
      </p:sp>
      <p:sp>
        <p:nvSpPr>
          <p:cNvPr id="6" name="Error 1"/>
          <p:cNvSpPr txBox="1"/>
          <p:nvPr/>
        </p:nvSpPr>
        <p:spPr>
          <a:xfrm>
            <a:off x="6248400" y="3327400"/>
            <a:ext cx="2514600" cy="355600"/>
          </a:xfrm>
          <a:prstGeom prst="roundRect">
            <a:avLst>
              <a:gd name="adj" fmla="val 17857"/>
            </a:avLst>
          </a:prstGeom>
          <a:solidFill>
            <a:srgbClr val="FFFFFF"/>
          </a:solidFill>
          <a:ln w="9525">
            <a:solidFill>
              <a:srgbClr val="D9DED8"/>
            </a:solidFill>
          </a:ln>
        </p:spPr>
        <p:txBody>
          <a:bodyPr wrap="square" lIns="88900" tIns="88900" rIns="88900" bIns="88900" rtlCol="0" anchor="ctr"/>
          <a:lstStyle/>
          <a:p>
            <a:pPr algn="l" indent="0" marL="0">
              <a:buNone/>
            </a:pPr>
            <a:r>
              <a:rPr lang="en-US" sz="1200" dirty="0">
                <a:solidFill>
                  <a:schemeClr val="tx2"/>
                </a:solidFill>
                <a:latin typeface="Courier New" pitchFamily="34" charset="0"/>
                <a:ea typeface="Courier New" pitchFamily="34" charset="-122"/>
                <a:cs typeface="Courier New" pitchFamily="34" charset="-120"/>
              </a:rPr>
              <a:t>ExposureExceeded</a:t>
            </a:r>
            <a:endParaRPr lang="en-US" sz="1200" dirty="0"/>
          </a:p>
        </p:txBody>
      </p:sp>
      <p:sp>
        <p:nvSpPr>
          <p:cNvPr id="7" name="Error 2"/>
          <p:cNvSpPr txBox="1"/>
          <p:nvPr/>
        </p:nvSpPr>
        <p:spPr>
          <a:xfrm>
            <a:off x="8864600" y="3327400"/>
            <a:ext cx="2514600" cy="355600"/>
          </a:xfrm>
          <a:prstGeom prst="roundRect">
            <a:avLst>
              <a:gd name="adj" fmla="val 17857"/>
            </a:avLst>
          </a:prstGeom>
          <a:solidFill>
            <a:srgbClr val="FFFFFF"/>
          </a:solidFill>
          <a:ln w="9525">
            <a:solidFill>
              <a:srgbClr val="D9DED8"/>
            </a:solidFill>
          </a:ln>
        </p:spPr>
        <p:txBody>
          <a:bodyPr wrap="square" lIns="88900" tIns="88900" rIns="88900" bIns="88900" rtlCol="0" anchor="ctr"/>
          <a:lstStyle/>
          <a:p>
            <a:pPr algn="l" indent="0" marL="0">
              <a:buNone/>
            </a:pPr>
            <a:r>
              <a:rPr lang="en-US" sz="1200" dirty="0">
                <a:solidFill>
                  <a:schemeClr val="tx2"/>
                </a:solidFill>
                <a:latin typeface="Courier New" pitchFamily="34" charset="0"/>
                <a:ea typeface="Courier New" pitchFamily="34" charset="-122"/>
                <a:cs typeface="Courier New" pitchFamily="34" charset="-120"/>
              </a:rPr>
              <a:t>StrategyRiskExceeded</a:t>
            </a:r>
            <a:endParaRPr lang="en-US" sz="1200" dirty="0"/>
          </a:p>
        </p:txBody>
      </p:sp>
      <p:sp>
        <p:nvSpPr>
          <p:cNvPr id="8" name="Error 3"/>
          <p:cNvSpPr txBox="1"/>
          <p:nvPr/>
        </p:nvSpPr>
        <p:spPr>
          <a:xfrm>
            <a:off x="6248400" y="3810000"/>
            <a:ext cx="2514600" cy="355600"/>
          </a:xfrm>
          <a:prstGeom prst="roundRect">
            <a:avLst>
              <a:gd name="adj" fmla="val 17857"/>
            </a:avLst>
          </a:prstGeom>
          <a:solidFill>
            <a:srgbClr val="FFFFFF"/>
          </a:solidFill>
          <a:ln w="9525">
            <a:solidFill>
              <a:srgbClr val="D9DED8"/>
            </a:solidFill>
          </a:ln>
        </p:spPr>
        <p:txBody>
          <a:bodyPr wrap="square" lIns="88900" tIns="88900" rIns="88900" bIns="88900" rtlCol="0" anchor="ctr"/>
          <a:lstStyle/>
          <a:p>
            <a:pPr algn="l" indent="0" marL="0">
              <a:buNone/>
            </a:pPr>
            <a:r>
              <a:rPr lang="en-US" sz="1200" dirty="0">
                <a:solidFill>
                  <a:schemeClr val="tx2"/>
                </a:solidFill>
                <a:latin typeface="Courier New" pitchFamily="34" charset="0"/>
                <a:ea typeface="Courier New" pitchFamily="34" charset="-122"/>
                <a:cs typeface="Courier New" pitchFamily="34" charset="-120"/>
              </a:rPr>
              <a:t>PortfolioRiskExceeded</a:t>
            </a:r>
            <a:endParaRPr lang="en-US" sz="1200" dirty="0"/>
          </a:p>
        </p:txBody>
      </p:sp>
      <p:sp>
        <p:nvSpPr>
          <p:cNvPr id="9" name="Error 4"/>
          <p:cNvSpPr txBox="1"/>
          <p:nvPr/>
        </p:nvSpPr>
        <p:spPr>
          <a:xfrm>
            <a:off x="8864600" y="3810000"/>
            <a:ext cx="2514600" cy="355600"/>
          </a:xfrm>
          <a:prstGeom prst="roundRect">
            <a:avLst>
              <a:gd name="adj" fmla="val 17857"/>
            </a:avLst>
          </a:prstGeom>
          <a:solidFill>
            <a:srgbClr val="FFFFFF"/>
          </a:solidFill>
          <a:ln w="9525">
            <a:solidFill>
              <a:srgbClr val="D9DED8"/>
            </a:solidFill>
          </a:ln>
        </p:spPr>
        <p:txBody>
          <a:bodyPr wrap="square" lIns="88900" tIns="88900" rIns="88900" bIns="88900" rtlCol="0" anchor="ctr"/>
          <a:lstStyle/>
          <a:p>
            <a:pPr algn="l" indent="0" marL="0">
              <a:buNone/>
            </a:pPr>
            <a:r>
              <a:rPr lang="en-US" sz="1200" dirty="0">
                <a:solidFill>
                  <a:schemeClr val="tx2"/>
                </a:solidFill>
                <a:latin typeface="Courier New" pitchFamily="34" charset="0"/>
                <a:ea typeface="Courier New" pitchFamily="34" charset="-122"/>
                <a:cs typeface="Courier New" pitchFamily="34" charset="-120"/>
              </a:rPr>
              <a:t>ReserveBelowMinimum</a:t>
            </a:r>
            <a:endParaRPr lang="en-US" sz="1200" dirty="0"/>
          </a:p>
        </p:txBody>
      </p:sp>
      <p:sp>
        <p:nvSpPr>
          <p:cNvPr id="10" name="Error 5"/>
          <p:cNvSpPr txBox="1"/>
          <p:nvPr/>
        </p:nvSpPr>
        <p:spPr>
          <a:xfrm>
            <a:off x="6248400" y="4292600"/>
            <a:ext cx="2514600" cy="355600"/>
          </a:xfrm>
          <a:prstGeom prst="roundRect">
            <a:avLst>
              <a:gd name="adj" fmla="val 17857"/>
            </a:avLst>
          </a:prstGeom>
          <a:solidFill>
            <a:srgbClr val="FFFFFF"/>
          </a:solidFill>
          <a:ln w="9525">
            <a:solidFill>
              <a:srgbClr val="D9DED8"/>
            </a:solidFill>
          </a:ln>
        </p:spPr>
        <p:txBody>
          <a:bodyPr wrap="square" lIns="88900" tIns="88900" rIns="88900" bIns="88900" rtlCol="0" anchor="ctr"/>
          <a:lstStyle/>
          <a:p>
            <a:pPr algn="l" indent="0" marL="0">
              <a:buNone/>
            </a:pPr>
            <a:r>
              <a:rPr lang="en-US" sz="1200" dirty="0">
                <a:solidFill>
                  <a:schemeClr val="tx2"/>
                </a:solidFill>
                <a:latin typeface="Courier New" pitchFamily="34" charset="0"/>
                <a:ea typeface="Courier New" pitchFamily="34" charset="-122"/>
                <a:cs typeface="Courier New" pitchFamily="34" charset="-120"/>
              </a:rPr>
              <a:t>StrategyNotAllowed</a:t>
            </a:r>
            <a:endParaRPr lang="en-US" sz="1200" dirty="0"/>
          </a:p>
        </p:txBody>
      </p:sp>
      <p:sp>
        <p:nvSpPr>
          <p:cNvPr id="11" name="Error 6"/>
          <p:cNvSpPr txBox="1"/>
          <p:nvPr/>
        </p:nvSpPr>
        <p:spPr>
          <a:xfrm>
            <a:off x="8864600" y="4292600"/>
            <a:ext cx="2514600" cy="355600"/>
          </a:xfrm>
          <a:prstGeom prst="roundRect">
            <a:avLst>
              <a:gd name="adj" fmla="val 17857"/>
            </a:avLst>
          </a:prstGeom>
          <a:solidFill>
            <a:srgbClr val="FFFFFF"/>
          </a:solidFill>
          <a:ln w="9525">
            <a:solidFill>
              <a:srgbClr val="D9DED8"/>
            </a:solidFill>
          </a:ln>
        </p:spPr>
        <p:txBody>
          <a:bodyPr wrap="square" lIns="88900" tIns="88900" rIns="88900" bIns="88900" rtlCol="0" anchor="ctr"/>
          <a:lstStyle/>
          <a:p>
            <a:pPr algn="l" indent="0" marL="0">
              <a:buNone/>
            </a:pPr>
            <a:r>
              <a:rPr lang="en-US" sz="1200" dirty="0">
                <a:solidFill>
                  <a:schemeClr val="tx2"/>
                </a:solidFill>
                <a:latin typeface="Courier New" pitchFamily="34" charset="0"/>
                <a:ea typeface="Courier New" pitchFamily="34" charset="-122"/>
                <a:cs typeface="Courier New" pitchFamily="34" charset="-120"/>
              </a:rPr>
              <a:t>DrawdownExceeded</a:t>
            </a:r>
            <a:endParaRPr lang="en-US" sz="1200" dirty="0"/>
          </a:p>
        </p:txBody>
      </p:sp>
      <p:sp>
        <p:nvSpPr>
          <p:cNvPr id="12" name="Override"/>
          <p:cNvSpPr txBox="1"/>
          <p:nvPr/>
        </p:nvSpPr>
        <p:spPr>
          <a:xfrm>
            <a:off x="6248400" y="5016500"/>
            <a:ext cx="5130800" cy="254000"/>
          </a:xfrm>
          <a:prstGeom prst="rect">
            <a:avLst/>
          </a:prstGeom>
          <a:noFill/>
          <a:ln/>
        </p:spPr>
        <p:txBody>
          <a:bodyPr wrap="square" lIns="0" tIns="0" rIns="0" bIns="0" rtlCol="0" anchor="t"/>
          <a:lstStyle/>
          <a:p>
            <a:pPr algn="l" indent="0" marL="0">
              <a:buNone/>
            </a:pPr>
            <a:r>
              <a:rPr lang="en-US" sz="1300" dirty="0">
                <a:solidFill>
                  <a:srgbClr val="4A5568"/>
                </a:solidFill>
              </a:rPr>
              <a:t>Human override: pause mandate · emergency exit · withdraw.</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812800" y="812800"/>
            <a:ext cx="10566400" cy="228600"/>
          </a:xfrm>
          <a:prstGeom prst="rect">
            <a:avLst/>
          </a:prstGeom>
          <a:noFill/>
          <a:ln/>
        </p:spPr>
        <p:txBody>
          <a:bodyPr wrap="square" lIns="0" tIns="0" rIns="0" bIns="0" rtlCol="0" anchor="t"/>
          <a:lstStyle/>
          <a:p>
            <a:pPr algn="l" indent="0" marL="0">
              <a:buNone/>
            </a:pPr>
            <a:r>
              <a:rPr lang="en-US" sz="1200" spc="150" kern="0" dirty="0">
                <a:solidFill>
                  <a:schemeClr val="accent1"/>
                </a:solidFill>
                <a:latin typeface="Courier New" pitchFamily="34" charset="0"/>
                <a:ea typeface="Courier New" pitchFamily="34" charset="-122"/>
                <a:cs typeface="Courier New" pitchFamily="34" charset="-120"/>
              </a:rPr>
              <a:t>THE DEMO · REALITY CHANGES</a:t>
            </a:r>
            <a:endParaRPr lang="en-US" sz="1200" dirty="0"/>
          </a:p>
        </p:txBody>
      </p:sp>
      <p:sp>
        <p:nvSpPr>
          <p:cNvPr id="3" name="Text 0"/>
          <p:cNvSpPr/>
          <p:nvPr>
            <p:ph idx="100" type="title" hasCustomPrompt="1"/>
          </p:nvPr>
        </p:nvSpPr>
        <p:spPr>
          <a:xfrm>
            <a:off x="812800" y="1117600"/>
            <a:ext cx="10566400" cy="1143000"/>
          </a:xfrm>
          <a:prstGeom prst="rect">
            <a:avLst/>
          </a:prstGeom>
          <a:noFill/>
          <a:ln/>
        </p:spPr>
        <p:txBody>
          <a:bodyPr wrap="square" lIns="0" tIns="0" rIns="0" bIns="0" rtlCol="0" anchor="t"/>
          <a:lstStyle/>
          <a:p>
            <a:pPr algn="l" indent="0" marL="0">
              <a:buNone/>
            </a:pPr>
            <a:r>
              <a:rPr lang="en-US" sz="3600" b="1" dirty="0">
                <a:solidFill>
                  <a:srgbClr val="EEF2F6"/>
                </a:solidFill>
              </a:rPr>
              <a:t>Strategy B gets riskier. KRIYA rebalances itself.</a:t>
            </a:r>
            <a:endParaRPr lang="en-US" sz="3600" dirty="0"/>
          </a:p>
        </p:txBody>
      </p:sp>
      <p:sp>
        <p:nvSpPr>
          <p:cNvPr id="4" name="Initial card"/>
          <p:cNvSpPr/>
          <p:nvPr/>
        </p:nvSpPr>
        <p:spPr>
          <a:xfrm>
            <a:off x="812800" y="2667000"/>
            <a:ext cx="3318933" cy="3302000"/>
          </a:xfrm>
          <a:prstGeom prst="roundRect">
            <a:avLst>
              <a:gd name="adj" fmla="val 3846"/>
            </a:avLst>
          </a:prstGeom>
          <a:solidFill>
            <a:srgbClr val="141A22"/>
          </a:solidFill>
          <a:ln w="9525">
            <a:solidFill>
              <a:srgbClr val="263040"/>
            </a:solidFill>
            <a:prstDash val="solid"/>
          </a:ln>
        </p:spPr>
      </p:sp>
      <p:sp>
        <p:nvSpPr>
          <p:cNvPr id="5" name="Text 3"/>
          <p:cNvSpPr txBox="1"/>
          <p:nvPr/>
        </p:nvSpPr>
        <p:spPr>
          <a:xfrm>
            <a:off x="1066800" y="2921000"/>
            <a:ext cx="2810933" cy="228600"/>
          </a:xfrm>
          <a:prstGeom prst="rect">
            <a:avLst/>
          </a:prstGeom>
          <a:noFill/>
          <a:ln/>
        </p:spPr>
        <p:txBody>
          <a:bodyPr wrap="square" lIns="0" tIns="0" rIns="0" bIns="0" rtlCol="0" anchor="t"/>
          <a:lstStyle/>
          <a:p>
            <a:pPr algn="l" indent="0" marL="0">
              <a:buNone/>
            </a:pPr>
            <a:r>
              <a:rPr lang="en-US" sz="1200" dirty="0">
                <a:solidFill>
                  <a:srgbClr val="9AA8BA"/>
                </a:solidFill>
                <a:latin typeface="Courier New" pitchFamily="34" charset="0"/>
                <a:ea typeface="Courier New" pitchFamily="34" charset="-122"/>
                <a:cs typeface="Courier New" pitchFamily="34" charset="-120"/>
              </a:rPr>
              <a:t>1 · Initial allocation</a:t>
            </a:r>
            <a:endParaRPr lang="en-US" sz="1200" dirty="0"/>
          </a:p>
        </p:txBody>
      </p:sp>
      <p:sp>
        <p:nvSpPr>
          <p:cNvPr id="6" name="Bar 1"/>
          <p:cNvSpPr/>
          <p:nvPr/>
        </p:nvSpPr>
        <p:spPr>
          <a:xfrm>
            <a:off x="1066800" y="3365500"/>
            <a:ext cx="1124373" cy="254000"/>
          </a:xfrm>
          <a:prstGeom prst="rect">
            <a:avLst/>
          </a:prstGeom>
          <a:solidFill>
            <a:srgbClr val="5AA8FF"/>
          </a:solidFill>
          <a:ln/>
        </p:spPr>
      </p:sp>
      <p:sp>
        <p:nvSpPr>
          <p:cNvPr id="7" name="Bar 2"/>
          <p:cNvSpPr/>
          <p:nvPr/>
        </p:nvSpPr>
        <p:spPr>
          <a:xfrm>
            <a:off x="2191173" y="3365500"/>
            <a:ext cx="983827" cy="254000"/>
          </a:xfrm>
          <a:prstGeom prst="rect">
            <a:avLst/>
          </a:prstGeom>
          <a:solidFill>
            <a:srgbClr val="7CF7C4"/>
          </a:solidFill>
          <a:ln/>
        </p:spPr>
      </p:sp>
      <p:sp>
        <p:nvSpPr>
          <p:cNvPr id="8" name="Bar 3"/>
          <p:cNvSpPr/>
          <p:nvPr/>
        </p:nvSpPr>
        <p:spPr>
          <a:xfrm>
            <a:off x="3175000" y="3365500"/>
            <a:ext cx="702733" cy="254000"/>
          </a:xfrm>
          <a:prstGeom prst="rect">
            <a:avLst/>
          </a:prstGeom>
          <a:solidFill>
            <a:srgbClr val="3A4658"/>
          </a:solidFill>
          <a:ln/>
        </p:spPr>
      </p:sp>
      <p:sp>
        <p:nvSpPr>
          <p:cNvPr id="9" name="Text 7"/>
          <p:cNvSpPr txBox="1"/>
          <p:nvPr/>
        </p:nvSpPr>
        <p:spPr>
          <a:xfrm>
            <a:off x="1066800" y="3810000"/>
            <a:ext cx="2810933" cy="279400"/>
          </a:xfrm>
          <a:prstGeom prst="rect">
            <a:avLst/>
          </a:prstGeom>
          <a:noFill/>
          <a:ln/>
        </p:spPr>
        <p:txBody>
          <a:bodyPr wrap="square" lIns="0" tIns="0" rIns="0" bIns="0" rtlCol="0" anchor="t"/>
          <a:lstStyle/>
          <a:p>
            <a:pPr algn="l" indent="0" marL="0">
              <a:buNone/>
            </a:pPr>
            <a:r>
              <a:rPr lang="en-US" sz="1500" dirty="0">
                <a:solidFill>
                  <a:srgbClr val="EEF2F6"/>
                </a:solidFill>
              </a:rPr>
              <a:t>B 40% · A 35% · Reserve 25%</a:t>
            </a:r>
            <a:endParaRPr lang="en-US" sz="1500" dirty="0"/>
          </a:p>
        </p:txBody>
      </p:sp>
      <p:sp>
        <p:nvSpPr>
          <p:cNvPr id="10" name="Text 8"/>
          <p:cNvSpPr txBox="1"/>
          <p:nvPr/>
        </p:nvSpPr>
        <p:spPr>
          <a:xfrm>
            <a:off x="1066800" y="4318000"/>
            <a:ext cx="2810933" cy="508000"/>
          </a:xfrm>
          <a:prstGeom prst="rect">
            <a:avLst/>
          </a:prstGeom>
          <a:noFill/>
          <a:ln/>
        </p:spPr>
        <p:txBody>
          <a:bodyPr wrap="square" lIns="0" tIns="0" rIns="0" bIns="0" rtlCol="0" anchor="t"/>
          <a:lstStyle/>
          <a:p>
            <a:pPr algn="l" indent="0" marL="0">
              <a:buNone/>
            </a:pPr>
            <a:r>
              <a:rPr lang="en-US" sz="2800" b="1" dirty="0">
                <a:solidFill>
                  <a:srgbClr val="EEF2F6"/>
                </a:solidFill>
              </a:rPr>
              <a:t>Risk 21</a:t>
            </a:r>
            <a:pPr algn="l" indent="0" marL="0">
              <a:buNone/>
            </a:pPr>
            <a:r>
              <a:rPr lang="en-US" sz="2800" b="1" dirty="0">
                <a:solidFill>
                  <a:srgbClr val="6B7A8F"/>
                </a:solidFill>
              </a:rPr>
              <a:t> / 40</a:t>
            </a:r>
            <a:endParaRPr lang="en-US" sz="2800" dirty="0"/>
          </a:p>
        </p:txBody>
      </p:sp>
      <p:sp>
        <p:nvSpPr>
          <p:cNvPr id="11" name="Text 9"/>
          <p:cNvSpPr txBox="1"/>
          <p:nvPr/>
        </p:nvSpPr>
        <p:spPr>
          <a:xfrm>
            <a:off x="1066800" y="5080000"/>
            <a:ext cx="2810933" cy="254000"/>
          </a:xfrm>
          <a:prstGeom prst="rect">
            <a:avLst/>
          </a:prstGeom>
          <a:noFill/>
          <a:ln/>
        </p:spPr>
        <p:txBody>
          <a:bodyPr wrap="square" lIns="0" tIns="0" rIns="0" bIns="0" rtlCol="0" anchor="t"/>
          <a:lstStyle/>
          <a:p>
            <a:pPr algn="l" indent="0" marL="0">
              <a:buNone/>
            </a:pPr>
            <a:r>
              <a:rPr lang="en-US" sz="1300" dirty="0">
                <a:solidFill>
                  <a:schemeClr val="accent1"/>
                </a:solidFill>
              </a:rPr>
              <a:t>✓ Mandate safe</a:t>
            </a:r>
            <a:endParaRPr lang="en-US" sz="1300" dirty="0"/>
          </a:p>
        </p:txBody>
      </p:sp>
      <p:sp>
        <p:nvSpPr>
          <p:cNvPr id="12" name="Reality card"/>
          <p:cNvSpPr/>
          <p:nvPr/>
        </p:nvSpPr>
        <p:spPr>
          <a:xfrm>
            <a:off x="4436533" y="2667000"/>
            <a:ext cx="3318933" cy="3302000"/>
          </a:xfrm>
          <a:prstGeom prst="roundRect">
            <a:avLst>
              <a:gd name="adj" fmla="val 3846"/>
            </a:avLst>
          </a:prstGeom>
          <a:solidFill>
            <a:srgbClr val="1E1A12"/>
          </a:solidFill>
          <a:ln w="9525">
            <a:solidFill>
              <a:srgbClr val="FFB547"/>
            </a:solidFill>
            <a:prstDash val="solid"/>
          </a:ln>
        </p:spPr>
      </p:sp>
      <p:sp>
        <p:nvSpPr>
          <p:cNvPr id="13" name="Text 11"/>
          <p:cNvSpPr txBox="1"/>
          <p:nvPr/>
        </p:nvSpPr>
        <p:spPr>
          <a:xfrm>
            <a:off x="4690533" y="2921000"/>
            <a:ext cx="2810933" cy="228600"/>
          </a:xfrm>
          <a:prstGeom prst="rect">
            <a:avLst/>
          </a:prstGeom>
          <a:noFill/>
          <a:ln/>
        </p:spPr>
        <p:txBody>
          <a:bodyPr wrap="square" lIns="0" tIns="0" rIns="0" bIns="0" rtlCol="0" anchor="t"/>
          <a:lstStyle/>
          <a:p>
            <a:pPr algn="l" indent="0" marL="0">
              <a:buNone/>
            </a:pPr>
            <a:r>
              <a:rPr lang="en-US" sz="1200" dirty="0">
                <a:solidFill>
                  <a:schemeClr val="accent4"/>
                </a:solidFill>
                <a:latin typeface="Courier New" pitchFamily="34" charset="0"/>
                <a:ea typeface="Courier New" pitchFamily="34" charset="-122"/>
                <a:cs typeface="Courier New" pitchFamily="34" charset="-120"/>
              </a:rPr>
              <a:t>2 · Reality changes</a:t>
            </a:r>
            <a:endParaRPr lang="en-US" sz="1200" dirty="0"/>
          </a:p>
        </p:txBody>
      </p:sp>
      <p:sp>
        <p:nvSpPr>
          <p:cNvPr id="14" name="Text 12"/>
          <p:cNvSpPr txBox="1"/>
          <p:nvPr/>
        </p:nvSpPr>
        <p:spPr>
          <a:xfrm>
            <a:off x="4690533" y="3302000"/>
            <a:ext cx="2810933" cy="508000"/>
          </a:xfrm>
          <a:prstGeom prst="rect">
            <a:avLst/>
          </a:prstGeom>
          <a:noFill/>
          <a:ln/>
        </p:spPr>
        <p:txBody>
          <a:bodyPr wrap="square" lIns="0" tIns="0" rIns="0" bIns="0" rtlCol="0" anchor="t"/>
          <a:lstStyle/>
          <a:p>
            <a:pPr algn="l" indent="0" marL="0">
              <a:buNone/>
            </a:pPr>
            <a:r>
              <a:rPr lang="en-US" sz="2800" b="1" dirty="0">
                <a:solidFill>
                  <a:srgbClr val="EEF2F6"/>
                </a:solidFill>
              </a:rPr>
              <a:t>B risk 34 → 48</a:t>
            </a:r>
            <a:endParaRPr lang="en-US" sz="2800" dirty="0"/>
          </a:p>
        </p:txBody>
      </p:sp>
      <p:sp>
        <p:nvSpPr>
          <p:cNvPr id="15" name="Text 13"/>
          <p:cNvSpPr txBox="1"/>
          <p:nvPr/>
        </p:nvSpPr>
        <p:spPr>
          <a:xfrm>
            <a:off x="4690533" y="3937000"/>
            <a:ext cx="2810933" cy="1079500"/>
          </a:xfrm>
          <a:prstGeom prst="rect">
            <a:avLst/>
          </a:prstGeom>
          <a:noFill/>
          <a:ln/>
        </p:spPr>
        <p:txBody>
          <a:bodyPr wrap="square" lIns="0" tIns="0" rIns="0" bIns="0" rtlCol="0" anchor="t"/>
          <a:lstStyle/>
          <a:p>
            <a:pPr algn="l" indent="0" marL="0">
              <a:lnSpc>
                <a:spcPct val="130000"/>
              </a:lnSpc>
              <a:buNone/>
            </a:pPr>
            <a:r>
              <a:rPr lang="en-US" sz="1500" dirty="0">
                <a:solidFill>
                  <a:srgbClr val="EEF2F6"/>
                </a:solidFill>
              </a:rPr>
              <a:t>Chainlink CRE verifies the score and writes it onchain. B now breaks the max risk of 40.</a:t>
            </a:r>
            <a:endParaRPr lang="en-US" sz="1500" dirty="0"/>
          </a:p>
        </p:txBody>
      </p:sp>
      <p:sp>
        <p:nvSpPr>
          <p:cNvPr id="16" name="Text 14"/>
          <p:cNvSpPr txBox="1"/>
          <p:nvPr/>
        </p:nvSpPr>
        <p:spPr>
          <a:xfrm>
            <a:off x="4690533" y="5080000"/>
            <a:ext cx="2810933" cy="254000"/>
          </a:xfrm>
          <a:prstGeom prst="rect">
            <a:avLst/>
          </a:prstGeom>
          <a:noFill/>
          <a:ln/>
        </p:spPr>
        <p:txBody>
          <a:bodyPr wrap="square" lIns="0" tIns="0" rIns="0" bIns="0" rtlCol="0" anchor="t"/>
          <a:lstStyle/>
          <a:p>
            <a:pPr algn="l" indent="0" marL="0">
              <a:buNone/>
            </a:pPr>
            <a:r>
              <a:rPr lang="en-US" sz="1300" dirty="0">
                <a:solidFill>
                  <a:schemeClr val="accent4"/>
                </a:solidFill>
              </a:rPr>
              <a:t>⚠ Mandate at risk</a:t>
            </a:r>
            <a:endParaRPr lang="en-US" sz="1300" dirty="0"/>
          </a:p>
        </p:txBody>
      </p:sp>
      <p:sp>
        <p:nvSpPr>
          <p:cNvPr id="17" name="Rebalanced card"/>
          <p:cNvSpPr/>
          <p:nvPr/>
        </p:nvSpPr>
        <p:spPr>
          <a:xfrm>
            <a:off x="8060267" y="2667000"/>
            <a:ext cx="3318933" cy="3302000"/>
          </a:xfrm>
          <a:prstGeom prst="roundRect">
            <a:avLst>
              <a:gd name="adj" fmla="val 3846"/>
            </a:avLst>
          </a:prstGeom>
          <a:solidFill>
            <a:srgbClr val="141A22"/>
          </a:solidFill>
          <a:ln w="9525">
            <a:solidFill>
              <a:srgbClr val="7CF7C4"/>
            </a:solidFill>
            <a:prstDash val="solid"/>
          </a:ln>
        </p:spPr>
      </p:sp>
      <p:sp>
        <p:nvSpPr>
          <p:cNvPr id="18" name="Text 16"/>
          <p:cNvSpPr txBox="1"/>
          <p:nvPr/>
        </p:nvSpPr>
        <p:spPr>
          <a:xfrm>
            <a:off x="8314267" y="2921000"/>
            <a:ext cx="2810933" cy="228600"/>
          </a:xfrm>
          <a:prstGeom prst="rect">
            <a:avLst/>
          </a:prstGeom>
          <a:noFill/>
          <a:ln/>
        </p:spPr>
        <p:txBody>
          <a:bodyPr wrap="square" lIns="0" tIns="0" rIns="0" bIns="0" rtlCol="0" anchor="t"/>
          <a:lstStyle/>
          <a:p>
            <a:pPr algn="l" indent="0" marL="0">
              <a:buNone/>
            </a:pPr>
            <a:r>
              <a:rPr lang="en-US" sz="1200" dirty="0">
                <a:solidFill>
                  <a:srgbClr val="9AA8BA"/>
                </a:solidFill>
                <a:latin typeface="Courier New" pitchFamily="34" charset="0"/>
                <a:ea typeface="Courier New" pitchFamily="34" charset="-122"/>
                <a:cs typeface="Courier New" pitchFamily="34" charset="-120"/>
              </a:rPr>
              <a:t>3 · Autonomous rebalance</a:t>
            </a:r>
            <a:endParaRPr lang="en-US" sz="1200" dirty="0"/>
          </a:p>
        </p:txBody>
      </p:sp>
      <p:sp>
        <p:nvSpPr>
          <p:cNvPr id="19" name="Bar 1"/>
          <p:cNvSpPr/>
          <p:nvPr/>
        </p:nvSpPr>
        <p:spPr>
          <a:xfrm>
            <a:off x="8314267" y="3365500"/>
            <a:ext cx="1124373" cy="254000"/>
          </a:xfrm>
          <a:prstGeom prst="rect">
            <a:avLst/>
          </a:prstGeom>
          <a:solidFill>
            <a:srgbClr val="7CF7C4"/>
          </a:solidFill>
          <a:ln/>
        </p:spPr>
      </p:sp>
      <p:sp>
        <p:nvSpPr>
          <p:cNvPr id="20" name="Bar 2"/>
          <p:cNvSpPr/>
          <p:nvPr/>
        </p:nvSpPr>
        <p:spPr>
          <a:xfrm>
            <a:off x="9438640" y="3365500"/>
            <a:ext cx="983827" cy="254000"/>
          </a:xfrm>
          <a:prstGeom prst="rect">
            <a:avLst/>
          </a:prstGeom>
          <a:solidFill>
            <a:srgbClr val="C38BFF"/>
          </a:solidFill>
          <a:ln/>
        </p:spPr>
      </p:sp>
      <p:sp>
        <p:nvSpPr>
          <p:cNvPr id="21" name="Bar 3"/>
          <p:cNvSpPr/>
          <p:nvPr/>
        </p:nvSpPr>
        <p:spPr>
          <a:xfrm>
            <a:off x="10422467" y="3365500"/>
            <a:ext cx="702733" cy="254000"/>
          </a:xfrm>
          <a:prstGeom prst="rect">
            <a:avLst/>
          </a:prstGeom>
          <a:solidFill>
            <a:srgbClr val="3A4658"/>
          </a:solidFill>
          <a:ln/>
        </p:spPr>
      </p:sp>
      <p:sp>
        <p:nvSpPr>
          <p:cNvPr id="22" name="Text 20"/>
          <p:cNvSpPr txBox="1"/>
          <p:nvPr/>
        </p:nvSpPr>
        <p:spPr>
          <a:xfrm>
            <a:off x="8314267" y="3810000"/>
            <a:ext cx="2810933" cy="279400"/>
          </a:xfrm>
          <a:prstGeom prst="rect">
            <a:avLst/>
          </a:prstGeom>
          <a:noFill/>
          <a:ln/>
        </p:spPr>
        <p:txBody>
          <a:bodyPr wrap="square" lIns="0" tIns="0" rIns="0" bIns="0" rtlCol="0" anchor="t"/>
          <a:lstStyle/>
          <a:p>
            <a:pPr algn="l" indent="0" marL="0">
              <a:buNone/>
            </a:pPr>
            <a:r>
              <a:rPr lang="en-US" sz="1500" dirty="0">
                <a:solidFill>
                  <a:srgbClr val="EEF2F6"/>
                </a:solidFill>
              </a:rPr>
              <a:t>A 40% · C 35% · Reserve 25%</a:t>
            </a:r>
            <a:endParaRPr lang="en-US" sz="1500" dirty="0"/>
          </a:p>
        </p:txBody>
      </p:sp>
      <p:sp>
        <p:nvSpPr>
          <p:cNvPr id="23" name="Text 21"/>
          <p:cNvSpPr txBox="1"/>
          <p:nvPr/>
        </p:nvSpPr>
        <p:spPr>
          <a:xfrm>
            <a:off x="8314267" y="4318000"/>
            <a:ext cx="2810933" cy="508000"/>
          </a:xfrm>
          <a:prstGeom prst="rect">
            <a:avLst/>
          </a:prstGeom>
          <a:noFill/>
          <a:ln/>
        </p:spPr>
        <p:txBody>
          <a:bodyPr wrap="square" lIns="0" tIns="0" rIns="0" bIns="0" rtlCol="0" anchor="t"/>
          <a:lstStyle/>
          <a:p>
            <a:pPr algn="l" indent="0" marL="0">
              <a:buNone/>
            </a:pPr>
            <a:r>
              <a:rPr lang="en-US" sz="2800" b="1" dirty="0">
                <a:solidFill>
                  <a:srgbClr val="EEF2F6"/>
                </a:solidFill>
              </a:rPr>
              <a:t>Risk 14</a:t>
            </a:r>
            <a:pPr algn="l" indent="0" marL="0">
              <a:buNone/>
            </a:pPr>
            <a:r>
              <a:rPr lang="en-US" sz="2800" b="1" dirty="0">
                <a:solidFill>
                  <a:srgbClr val="6B7A8F"/>
                </a:solidFill>
              </a:rPr>
              <a:t> / 40</a:t>
            </a:r>
            <a:endParaRPr lang="en-US" sz="2800" dirty="0"/>
          </a:p>
        </p:txBody>
      </p:sp>
      <p:sp>
        <p:nvSpPr>
          <p:cNvPr id="24" name="Text 22"/>
          <p:cNvSpPr txBox="1"/>
          <p:nvPr/>
        </p:nvSpPr>
        <p:spPr>
          <a:xfrm>
            <a:off x="8314267" y="5080000"/>
            <a:ext cx="2810933" cy="254000"/>
          </a:xfrm>
          <a:prstGeom prst="rect">
            <a:avLst/>
          </a:prstGeom>
          <a:noFill/>
          <a:ln/>
        </p:spPr>
        <p:txBody>
          <a:bodyPr wrap="square" lIns="0" tIns="0" rIns="0" bIns="0" rtlCol="0" anchor="t"/>
          <a:lstStyle/>
          <a:p>
            <a:pPr algn="l" indent="0" marL="0">
              <a:buNone/>
            </a:pPr>
            <a:r>
              <a:rPr lang="en-US" sz="1300" dirty="0">
                <a:solidFill>
                  <a:schemeClr val="accent1"/>
                </a:solidFill>
              </a:rPr>
              <a:t>✓ Mandate restored · 0 violations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90D"/>
        </a:solidFill>
      </p:bgPr>
    </p:bg>
    <p:spTree>
      <p:nvGrpSpPr>
        <p:cNvPr id="1" name=""/>
        <p:cNvGrpSpPr/>
        <p:nvPr/>
      </p:nvGrpSpPr>
      <p:grpSpPr>
        <a:xfrm>
          <a:off x="0" y="0"/>
          <a:ext cx="0" cy="0"/>
          <a:chOff x="0" y="0"/>
          <a:chExt cx="0" cy="0"/>
        </a:xfrm>
      </p:grpSpPr>
      <p:sp>
        <p:nvSpPr>
          <p:cNvPr id="2" name="Eyebrow"/>
          <p:cNvSpPr txBox="1"/>
          <p:nvPr/>
        </p:nvSpPr>
        <p:spPr>
          <a:xfrm>
            <a:off x="812800" y="1270000"/>
            <a:ext cx="2794000" cy="228600"/>
          </a:xfrm>
          <a:prstGeom prst="rect">
            <a:avLst/>
          </a:prstGeom>
          <a:noFill/>
          <a:ln/>
        </p:spPr>
        <p:txBody>
          <a:bodyPr wrap="square" lIns="0" tIns="0" rIns="0" bIns="0" rtlCol="0" anchor="t"/>
          <a:lstStyle/>
          <a:p>
            <a:pPr algn="l" indent="0" marL="0">
              <a:buNone/>
            </a:pPr>
            <a:r>
              <a:rPr lang="en-US" sz="1200" spc="150" kern="0" dirty="0">
                <a:solidFill>
                  <a:schemeClr val="accent1"/>
                </a:solidFill>
                <a:latin typeface="Courier New" pitchFamily="34" charset="0"/>
                <a:ea typeface="Courier New" pitchFamily="34" charset="-122"/>
                <a:cs typeface="Courier New" pitchFamily="34" charset="-120"/>
              </a:rPr>
              <a:t>LIVE DASHBOARD · SEPOLIA</a:t>
            </a:r>
            <a:endParaRPr lang="en-US" sz="1200" dirty="0"/>
          </a:p>
        </p:txBody>
      </p:sp>
      <p:sp>
        <p:nvSpPr>
          <p:cNvPr id="3" name="Title"/>
          <p:cNvSpPr txBox="1"/>
          <p:nvPr/>
        </p:nvSpPr>
        <p:spPr>
          <a:xfrm>
            <a:off x="812800" y="1587500"/>
            <a:ext cx="2794000" cy="1143000"/>
          </a:xfrm>
          <a:prstGeom prst="rect">
            <a:avLst/>
          </a:prstGeom>
          <a:noFill/>
          <a:ln/>
        </p:spPr>
        <p:txBody>
          <a:bodyPr wrap="square" lIns="0" tIns="0" rIns="0" bIns="0" rtlCol="0" anchor="t"/>
          <a:lstStyle/>
          <a:p>
            <a:pPr algn="l" indent="0" marL="0">
              <a:lnSpc>
                <a:spcPct val="105000"/>
              </a:lnSpc>
              <a:buNone/>
            </a:pPr>
            <a:r>
              <a:rPr lang="en-US" sz="3600" b="1" dirty="0">
                <a:solidFill>
                  <a:srgbClr val="EEF2F6"/>
                </a:solidFill>
              </a:rPr>
              <a:t>Mission control</a:t>
            </a:r>
            <a:endParaRPr lang="en-US" sz="3600" dirty="0"/>
          </a:p>
        </p:txBody>
      </p:sp>
      <p:sp>
        <p:nvSpPr>
          <p:cNvPr id="4" name="Point 1 dot"/>
          <p:cNvSpPr/>
          <p:nvPr/>
        </p:nvSpPr>
        <p:spPr>
          <a:xfrm>
            <a:off x="812800" y="3022600"/>
            <a:ext cx="114300" cy="114300"/>
          </a:xfrm>
          <a:prstGeom prst="ellipse">
            <a:avLst/>
          </a:prstGeom>
          <a:solidFill>
            <a:srgbClr val="7CF7C4"/>
          </a:solidFill>
          <a:ln/>
        </p:spPr>
      </p:sp>
      <p:sp>
        <p:nvSpPr>
          <p:cNvPr id="5" name="Point 1"/>
          <p:cNvSpPr txBox="1"/>
          <p:nvPr/>
        </p:nvSpPr>
        <p:spPr>
          <a:xfrm>
            <a:off x="1054100" y="2984500"/>
            <a:ext cx="2552700" cy="254000"/>
          </a:xfrm>
          <a:prstGeom prst="rect">
            <a:avLst/>
          </a:prstGeom>
          <a:noFill/>
          <a:ln/>
        </p:spPr>
        <p:txBody>
          <a:bodyPr wrap="square" lIns="0" tIns="0" rIns="0" bIns="0" rtlCol="0" anchor="t"/>
          <a:lstStyle/>
          <a:p>
            <a:pPr algn="l" indent="0" marL="0">
              <a:buNone/>
            </a:pPr>
            <a:r>
              <a:rPr lang="en-US" sz="1500" b="1" dirty="0">
                <a:solidFill>
                  <a:srgbClr val="EEF2F6"/>
                </a:solidFill>
              </a:rPr>
              <a:t>Live loop</a:t>
            </a:r>
            <a:endParaRPr lang="en-US" sz="1500" dirty="0"/>
          </a:p>
        </p:txBody>
      </p:sp>
      <p:sp>
        <p:nvSpPr>
          <p:cNvPr id="6" name="Point 1 detail"/>
          <p:cNvSpPr txBox="1"/>
          <p:nvPr/>
        </p:nvSpPr>
        <p:spPr>
          <a:xfrm>
            <a:off x="1054100" y="3263900"/>
            <a:ext cx="2552700" cy="571500"/>
          </a:xfrm>
          <a:prstGeom prst="rect">
            <a:avLst/>
          </a:prstGeom>
          <a:noFill/>
          <a:ln/>
        </p:spPr>
        <p:txBody>
          <a:bodyPr wrap="square" lIns="0" tIns="0" rIns="0" bIns="0" rtlCol="0" anchor="t"/>
          <a:lstStyle/>
          <a:p>
            <a:pPr algn="l" indent="0" marL="0">
              <a:lnSpc>
                <a:spcPct val="125000"/>
              </a:lnSpc>
              <a:buNone/>
            </a:pPr>
            <a:r>
              <a:rPr lang="en-US" sz="1200" dirty="0">
                <a:solidFill>
                  <a:srgbClr val="9AA8BA"/>
                </a:solidFill>
              </a:rPr>
              <a:t>Each of the six steps streams in as it lands, with its transaction</a:t>
            </a:r>
            <a:endParaRPr lang="en-US" sz="1200" dirty="0"/>
          </a:p>
        </p:txBody>
      </p:sp>
      <p:sp>
        <p:nvSpPr>
          <p:cNvPr id="7" name="Point 2 dot"/>
          <p:cNvSpPr/>
          <p:nvPr/>
        </p:nvSpPr>
        <p:spPr>
          <a:xfrm>
            <a:off x="812800" y="3975100"/>
            <a:ext cx="114300" cy="114300"/>
          </a:xfrm>
          <a:prstGeom prst="ellipse">
            <a:avLst/>
          </a:prstGeom>
          <a:solidFill>
            <a:srgbClr val="7CF7C4"/>
          </a:solidFill>
          <a:ln/>
        </p:spPr>
      </p:sp>
      <p:sp>
        <p:nvSpPr>
          <p:cNvPr id="8" name="Point 2"/>
          <p:cNvSpPr txBox="1"/>
          <p:nvPr/>
        </p:nvSpPr>
        <p:spPr>
          <a:xfrm>
            <a:off x="1054100" y="3937000"/>
            <a:ext cx="2552700" cy="254000"/>
          </a:xfrm>
          <a:prstGeom prst="rect">
            <a:avLst/>
          </a:prstGeom>
          <a:noFill/>
          <a:ln/>
        </p:spPr>
        <p:txBody>
          <a:bodyPr wrap="square" lIns="0" tIns="0" rIns="0" bIns="0" rtlCol="0" anchor="t"/>
          <a:lstStyle/>
          <a:p>
            <a:pPr algn="l" indent="0" marL="0">
              <a:buNone/>
            </a:pPr>
            <a:r>
              <a:rPr lang="en-US" sz="1500" b="1" dirty="0">
                <a:solidFill>
                  <a:srgbClr val="EEF2F6"/>
                </a:solidFill>
              </a:rPr>
              <a:t>Claude's decision</a:t>
            </a:r>
            <a:endParaRPr lang="en-US" sz="1500" dirty="0"/>
          </a:p>
        </p:txBody>
      </p:sp>
      <p:sp>
        <p:nvSpPr>
          <p:cNvPr id="9" name="Point 2 detail"/>
          <p:cNvSpPr txBox="1"/>
          <p:nvPr/>
        </p:nvSpPr>
        <p:spPr>
          <a:xfrm>
            <a:off x="1054100" y="4216400"/>
            <a:ext cx="2552700" cy="571500"/>
          </a:xfrm>
          <a:prstGeom prst="rect">
            <a:avLst/>
          </a:prstGeom>
          <a:noFill/>
          <a:ln/>
        </p:spPr>
        <p:txBody>
          <a:bodyPr wrap="square" lIns="0" tIns="0" rIns="0" bIns="0" rtlCol="0" anchor="t"/>
          <a:lstStyle/>
          <a:p>
            <a:pPr algn="l" indent="0" marL="0">
              <a:lnSpc>
                <a:spcPct val="125000"/>
              </a:lnSpc>
              <a:buNone/>
            </a:pPr>
            <a:r>
              <a:rPr lang="en-US" sz="1200" dirty="0">
                <a:solidFill>
                  <a:srgbClr val="9AA8BA"/>
                </a:solidFill>
              </a:rPr>
              <a:t>Rationale, allocation and the policy check, side by side</a:t>
            </a:r>
            <a:endParaRPr lang="en-US" sz="1200" dirty="0"/>
          </a:p>
        </p:txBody>
      </p:sp>
      <p:sp>
        <p:nvSpPr>
          <p:cNvPr id="10" name="Point 3 dot"/>
          <p:cNvSpPr/>
          <p:nvPr/>
        </p:nvSpPr>
        <p:spPr>
          <a:xfrm>
            <a:off x="812800" y="4927600"/>
            <a:ext cx="114300" cy="114300"/>
          </a:xfrm>
          <a:prstGeom prst="ellipse">
            <a:avLst/>
          </a:prstGeom>
          <a:solidFill>
            <a:srgbClr val="7CF7C4"/>
          </a:solidFill>
          <a:ln/>
        </p:spPr>
      </p:sp>
      <p:sp>
        <p:nvSpPr>
          <p:cNvPr id="11" name="Point 3"/>
          <p:cNvSpPr txBox="1"/>
          <p:nvPr/>
        </p:nvSpPr>
        <p:spPr>
          <a:xfrm>
            <a:off x="1054100" y="4889500"/>
            <a:ext cx="2552700" cy="254000"/>
          </a:xfrm>
          <a:prstGeom prst="rect">
            <a:avLst/>
          </a:prstGeom>
          <a:noFill/>
          <a:ln/>
        </p:spPr>
        <p:txBody>
          <a:bodyPr wrap="square" lIns="0" tIns="0" rIns="0" bIns="0" rtlCol="0" anchor="t"/>
          <a:lstStyle/>
          <a:p>
            <a:pPr algn="l" indent="0" marL="0">
              <a:buNone/>
            </a:pPr>
            <a:r>
              <a:rPr lang="en-US" sz="1500" b="1" dirty="0">
                <a:solidFill>
                  <a:srgbClr val="EEF2F6"/>
                </a:solidFill>
              </a:rPr>
              <a:t>Stage bar</a:t>
            </a:r>
            <a:endParaRPr lang="en-US" sz="1500" dirty="0"/>
          </a:p>
        </p:txBody>
      </p:sp>
      <p:sp>
        <p:nvSpPr>
          <p:cNvPr id="12" name="Point 3 detail"/>
          <p:cNvSpPr txBox="1"/>
          <p:nvPr/>
        </p:nvSpPr>
        <p:spPr>
          <a:xfrm>
            <a:off x="1054100" y="5168900"/>
            <a:ext cx="2552700" cy="571500"/>
          </a:xfrm>
          <a:prstGeom prst="rect">
            <a:avLst/>
          </a:prstGeom>
          <a:noFill/>
          <a:ln/>
        </p:spPr>
        <p:txBody>
          <a:bodyPr wrap="square" lIns="0" tIns="0" rIns="0" bIns="0" rtlCol="0" anchor="t"/>
          <a:lstStyle/>
          <a:p>
            <a:pPr algn="l" indent="0" marL="0">
              <a:lnSpc>
                <a:spcPct val="125000"/>
              </a:lnSpc>
              <a:buNone/>
            </a:pPr>
            <a:r>
              <a:rPr lang="en-US" sz="1200" dirty="0">
                <a:solidFill>
                  <a:srgbClr val="9AA8BA"/>
                </a:solidFill>
              </a:rPr>
              <a:t>Walks judges through the five demo acts, one click each</a:t>
            </a:r>
            <a:endParaRPr lang="en-US" sz="1200" dirty="0"/>
          </a:p>
        </p:txBody>
      </p:sp>
      <p:sp>
        <p:nvSpPr>
          <p:cNvPr id="13" name="Screenshot frame"/>
          <p:cNvSpPr/>
          <p:nvPr/>
        </p:nvSpPr>
        <p:spPr>
          <a:xfrm>
            <a:off x="3898900" y="939800"/>
            <a:ext cx="7518400" cy="4730750"/>
          </a:xfrm>
          <a:prstGeom prst="roundRect">
            <a:avLst>
              <a:gd name="adj" fmla="val 1879"/>
            </a:avLst>
          </a:prstGeom>
          <a:solidFill>
            <a:srgbClr val="1F2733"/>
          </a:solidFill>
          <a:ln/>
        </p:spPr>
      </p:sp>
      <p:pic>
        <p:nvPicPr>
          <p:cNvPr id="14" name="Dashboard screenshot" descr="KRIYA mission control dashboard on Ethereum Sepolia after a Claude-driven rebalance: six-step loop pipeline, latest decision, risk chart, activity timeline, and the demo stage bar at Done">    </p:cNvPr>
          <p:cNvPicPr>
            <a:picLocks noChangeAspect="1"/>
          </p:cNvPicPr>
          <p:nvPr/>
        </p:nvPicPr>
        <p:blipFill>
          <a:blip r:embed="rId1"/>
          <a:stretch>
            <a:fillRect/>
          </a:stretch>
        </p:blipFill>
        <p:spPr>
          <a:xfrm>
            <a:off x="3937000" y="977900"/>
            <a:ext cx="7442200" cy="4654550"/>
          </a:xfrm>
          <a:prstGeom prst="rect">
            <a:avLst/>
          </a:prstGeom>
        </p:spPr>
      </p:pic>
      <p:sp>
        <p:nvSpPr>
          <p:cNvPr id="15" name="Caption"/>
          <p:cNvSpPr txBox="1"/>
          <p:nvPr/>
        </p:nvSpPr>
        <p:spPr>
          <a:xfrm>
            <a:off x="3937000" y="5772150"/>
            <a:ext cx="7442200" cy="254000"/>
          </a:xfrm>
          <a:prstGeom prst="rect">
            <a:avLst/>
          </a:prstGeom>
          <a:noFill/>
          <a:ln/>
        </p:spPr>
        <p:txBody>
          <a:bodyPr wrap="square" lIns="0" tIns="0" rIns="0" bIns="0" rtlCol="0" anchor="t"/>
          <a:lstStyle/>
          <a:p>
            <a:pPr algn="l" indent="0" marL="0">
              <a:buNone/>
            </a:pPr>
            <a:r>
              <a:rPr lang="en-US" sz="1100" dirty="0">
                <a:solidFill>
                  <a:srgbClr val="6B7A8F"/>
                </a:solidFill>
              </a:rPr>
              <a:t>Live on Sepolia · kriya-beta.vercel.app · right after Claude exited a strategy that breached the mandate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812800" y="812800"/>
            <a:ext cx="10566400" cy="228600"/>
          </a:xfrm>
          <a:prstGeom prst="rect">
            <a:avLst/>
          </a:prstGeom>
          <a:noFill/>
          <a:ln/>
        </p:spPr>
        <p:txBody>
          <a:bodyPr wrap="square" lIns="0" tIns="0" rIns="0" bIns="0" rtlCol="0" anchor="t"/>
          <a:lstStyle/>
          <a:p>
            <a:pPr algn="l" indent="0" marL="0">
              <a:buNone/>
            </a:pPr>
            <a:r>
              <a:rPr lang="en-US" sz="1200" spc="150" kern="0" dirty="0">
                <a:solidFill>
                  <a:schemeClr val="accent5"/>
                </a:solidFill>
                <a:latin typeface="Courier New" pitchFamily="34" charset="0"/>
                <a:ea typeface="Courier New" pitchFamily="34" charset="-122"/>
                <a:cs typeface="Courier New" pitchFamily="34" charset="-120"/>
              </a:rPr>
              <a:t>PROOF · ETHEREUM SEPOLIA</a:t>
            </a:r>
            <a:endParaRPr lang="en-US" sz="1200" dirty="0"/>
          </a:p>
        </p:txBody>
      </p:sp>
      <p:sp>
        <p:nvSpPr>
          <p:cNvPr id="3" name="Text 0"/>
          <p:cNvSpPr/>
          <p:nvPr>
            <p:ph idx="100" type="title" hasCustomPrompt="1"/>
          </p:nvPr>
        </p:nvSpPr>
        <p:spPr>
          <a:xfrm>
            <a:off x="812800" y="1117600"/>
            <a:ext cx="10566400" cy="1143000"/>
          </a:xfrm>
          <a:prstGeom prst="rect">
            <a:avLst/>
          </a:prstGeom>
          <a:noFill/>
          <a:ln/>
        </p:spPr>
        <p:txBody>
          <a:bodyPr wrap="square" lIns="0" tIns="0" rIns="0" bIns="0" rtlCol="0" anchor="t"/>
          <a:lstStyle/>
          <a:p>
            <a:pPr algn="l" indent="0" marL="0">
              <a:buNone/>
            </a:pPr>
            <a:r>
              <a:rPr lang="en-US" sz="3600" b="1" dirty="0">
                <a:solidFill>
                  <a:schemeClr val="tx2"/>
                </a:solidFill>
              </a:rPr>
              <a:t>Real transactions, real reverts, real CRE reports</a:t>
            </a:r>
            <a:endParaRPr lang="en-US" sz="3600" dirty="0"/>
          </a:p>
        </p:txBody>
      </p:sp>
      <p:graphicFrame>
        <p:nvGraphicFramePr>
          <p:cNvPr id="11" name="Transactions"/>
          <p:cNvGraphicFramePr>
            <a:graphicFrameLocks noGrp="1"/>
          </p:cNvGraphicFramePr>
          <p:nvPr>
            <p:extLst>
              <p:ext uri="{D42A27DB-BD31-4B8C-83A1-F6EECF244321}">
                <p14:modId xmlns:p14="http://schemas.microsoft.com/office/powerpoint/2010/main" val="1579011935"/>
              </p:ext>
            </p:extLst>
          </p:nvPr>
        </p:nvGraphicFramePr>
        <p:xfrm>
          <a:off x="812800" y="2095500"/>
          <a:ext cx="10566400" cy="914400"/>
        </p:xfrm>
        <a:graphic>
          <a:graphicData uri="http://schemas.openxmlformats.org/drawingml/2006/table">
            <a:tbl>
              <a:tblPr/>
              <a:tblGrid>
                <a:gridCol w="6985000"/>
                <a:gridCol w="3581400"/>
              </a:tblGrid>
              <a:tr h="508000">
                <a:tc>
                  <a:txBody>
                    <a:bodyPr/>
                    <a:lstStyle/>
                    <a:p>
                      <a:pPr indent="0" marL="0">
                        <a:buNone/>
                      </a:pPr>
                      <a:r>
                        <a:rPr lang="en-US" sz="1400" b="1" dirty="0">
                          <a:solidFill>
                            <a:srgbClr val="EEF2F6"/>
                          </a:solidFill>
                        </a:rPr>
                        <a:t>Step</a:t>
                      </a:r>
                      <a:endParaRPr lang="en-US" sz="1400" dirty="0"/>
                    </a:p>
                  </a:txBody>
                  <a:tcPr marL="114300" marR="1143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101820"/>
                    </a:solidFill>
                  </a:tcPr>
                </a:tc>
                <a:tc>
                  <a:txBody>
                    <a:bodyPr/>
                    <a:lstStyle/>
                    <a:p>
                      <a:pPr indent="0" marL="0">
                        <a:buNone/>
                      </a:pPr>
                      <a:r>
                        <a:rPr lang="en-US" sz="1400" b="1" dirty="0">
                          <a:solidFill>
                            <a:srgbClr val="EEF2F6"/>
                          </a:solidFill>
                        </a:rPr>
                        <a:t>Transaction</a:t>
                      </a:r>
                      <a:endParaRPr lang="en-US" sz="1400" dirty="0"/>
                    </a:p>
                  </a:txBody>
                  <a:tcPr marL="114300" marR="1143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101820"/>
                    </a:solidFill>
                  </a:tcPr>
                </a:tc>
              </a:tr>
              <a:tr h="508000">
                <a:tc>
                  <a:txBody>
                    <a:bodyPr/>
                    <a:lstStyle/>
                    <a:p>
                      <a:pPr indent="0" marL="0">
                        <a:buNone/>
                      </a:pPr>
                      <a:r>
                        <a:rPr lang="en-US" sz="1400" dirty="0">
                          <a:solidFill>
                            <a:srgbClr val="101820"/>
                          </a:solidFill>
                        </a:rPr>
                        <a:t>Open $1,000 mandate</a:t>
                      </a:r>
                      <a:endParaRPr lang="en-US" sz="1400" dirty="0"/>
                    </a:p>
                  </a:txBody>
                  <a:tcPr marL="114300" marR="1143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3F5F2"/>
                    </a:solidFill>
                  </a:tcPr>
                </a:tc>
                <a:tc>
                  <a:txBody>
                    <a:bodyPr/>
                    <a:lstStyle/>
                    <a:p>
                      <a:pPr indent="0" marL="0">
                        <a:buNone/>
                      </a:pPr>
                      <a:r>
                        <a:rPr lang="en-US" sz="1400" u="sng" dirty="0">
                          <a:solidFill>
                            <a:srgbClr val="0B7A5C"/>
                          </a:solidFill>
                          <a:latin typeface="Courier New" pitchFamily="34" charset="0"/>
                          <a:ea typeface="Courier New" pitchFamily="34" charset="-122"/>
                          <a:cs typeface="Courier New" pitchFamily="34" charset="-120"/>
                          <a:hlinkClick r:id="rId1" invalidUrl="" action="" tgtFrame="" tooltip="View on Sepolia Etherscan" history="1" highlightClick="0" endSnd="0">
                            <a:extLst>
                              <a:ext uri="{A12FA001-AC4F-418D-AE19-62706E023703}">
                                <ahyp:hlinkClr xmlns:ahyp="http://schemas.microsoft.com/office/drawing/2018/hyperlinkcolor" val="tx"/>
                              </a:ext>
                            </a:extLst>
                          </a:hlinkClick>
                        </a:rPr>
                        <a:t>0x7b0fd91d…554f</a:t>
                      </a:r>
                      <a:endParaRPr lang="en-US" sz="1400" dirty="0">
                        <a:latin typeface="Courier New" charset="0"/>
                        <a:ea typeface="Courier New" charset="0"/>
                        <a:cs typeface="Courier New" charset="0"/>
                      </a:endParaRPr>
                    </a:p>
                  </a:txBody>
                  <a:tcPr marL="114300" marR="1143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3F5F2"/>
                    </a:solidFill>
                  </a:tcPr>
                </a:tc>
              </a:tr>
              <a:tr h="508000">
                <a:tc>
                  <a:txBody>
                    <a:bodyPr/>
                    <a:lstStyle/>
                    <a:p>
                      <a:pPr indent="0" marL="0">
                        <a:buNone/>
                      </a:pPr>
                      <a:r>
                        <a:rPr lang="en-US" sz="1400" dirty="0">
                          <a:solidFill>
                            <a:srgbClr val="101820"/>
                          </a:solidFill>
                        </a:rPr>
                        <a:t>Unsafe 60% proposal · reverted (ExposureExceeded)</a:t>
                      </a:r>
                      <a:endParaRPr lang="en-US" sz="1400" dirty="0"/>
                    </a:p>
                  </a:txBody>
                  <a:tcPr marL="114300" marR="1143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E7ECE6"/>
                    </a:solidFill>
                  </a:tcPr>
                </a:tc>
                <a:tc>
                  <a:txBody>
                    <a:bodyPr/>
                    <a:lstStyle/>
                    <a:p>
                      <a:pPr indent="0" marL="0">
                        <a:buNone/>
                      </a:pPr>
                      <a:r>
                        <a:rPr lang="en-US" sz="1400" u="sng" dirty="0">
                          <a:solidFill>
                            <a:srgbClr val="0B7A5C"/>
                          </a:solidFill>
                          <a:latin typeface="Courier New" pitchFamily="34" charset="0"/>
                          <a:ea typeface="Courier New" pitchFamily="34" charset="-122"/>
                          <a:cs typeface="Courier New" pitchFamily="34" charset="-120"/>
                          <a:hlinkClick r:id="rId2" invalidUrl="" action="" tgtFrame="" tooltip="View on Sepolia Etherscan" history="1" highlightClick="0" endSnd="0">
                            <a:extLst>
                              <a:ext uri="{A12FA001-AC4F-418D-AE19-62706E023703}">
                                <ahyp:hlinkClr xmlns:ahyp="http://schemas.microsoft.com/office/drawing/2018/hyperlinkcolor" val="tx"/>
                              </a:ext>
                            </a:extLst>
                          </a:hlinkClick>
                        </a:rPr>
                        <a:t>0x6eee86fd…77b9</a:t>
                      </a:r>
                      <a:endParaRPr lang="en-US" sz="1400" dirty="0">
                        <a:latin typeface="Courier New" charset="0"/>
                        <a:ea typeface="Courier New" charset="0"/>
                        <a:cs typeface="Courier New" charset="0"/>
                      </a:endParaRPr>
                    </a:p>
                  </a:txBody>
                  <a:tcPr marL="114300" marR="1143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E7ECE6"/>
                    </a:solidFill>
                  </a:tcPr>
                </a:tc>
              </a:tr>
              <a:tr h="508000">
                <a:tc>
                  <a:txBody>
                    <a:bodyPr/>
                    <a:lstStyle/>
                    <a:p>
                      <a:pPr indent="0" marL="0">
                        <a:buNone/>
                      </a:pPr>
                      <a:r>
                        <a:rPr lang="en-US" sz="1400" b="1" dirty="0">
                          <a:solidFill>
                            <a:srgbClr val="101820"/>
                          </a:solidFill>
                        </a:rPr>
                        <a:t>CRE VERIFY · risk report, B 34 → 48</a:t>
                      </a:r>
                      <a:endParaRPr lang="en-US" sz="1400" dirty="0"/>
                    </a:p>
                  </a:txBody>
                  <a:tcPr marL="114300" marR="1143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3F5F2"/>
                    </a:solidFill>
                  </a:tcPr>
                </a:tc>
                <a:tc>
                  <a:txBody>
                    <a:bodyPr/>
                    <a:lstStyle/>
                    <a:p>
                      <a:pPr indent="0" marL="0">
                        <a:buNone/>
                      </a:pPr>
                      <a:r>
                        <a:rPr lang="en-US" sz="1400" u="sng" dirty="0">
                          <a:solidFill>
                            <a:srgbClr val="0B7A5C"/>
                          </a:solidFill>
                          <a:latin typeface="Courier New" pitchFamily="34" charset="0"/>
                          <a:ea typeface="Courier New" pitchFamily="34" charset="-122"/>
                          <a:cs typeface="Courier New" pitchFamily="34" charset="-120"/>
                          <a:hlinkClick r:id="rId3" invalidUrl="" action="" tgtFrame="" tooltip="View on Sepolia Etherscan" history="1" highlightClick="0" endSnd="0">
                            <a:extLst>
                              <a:ext uri="{A12FA001-AC4F-418D-AE19-62706E023703}">
                                <ahyp:hlinkClr xmlns:ahyp="http://schemas.microsoft.com/office/drawing/2018/hyperlinkcolor" val="tx"/>
                              </a:ext>
                            </a:extLst>
                          </a:hlinkClick>
                        </a:rPr>
                        <a:t>0x66deb846…36b9</a:t>
                      </a:r>
                      <a:endParaRPr lang="en-US" sz="1400" dirty="0">
                        <a:latin typeface="Courier New" charset="0"/>
                        <a:ea typeface="Courier New" charset="0"/>
                        <a:cs typeface="Courier New" charset="0"/>
                      </a:endParaRPr>
                    </a:p>
                  </a:txBody>
                  <a:tcPr marL="114300" marR="1143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3F5F2"/>
                    </a:solidFill>
                  </a:tcPr>
                </a:tc>
              </a:tr>
              <a:tr h="508000">
                <a:tc>
                  <a:txBody>
                    <a:bodyPr/>
                    <a:lstStyle/>
                    <a:p>
                      <a:pPr indent="0" marL="0">
                        <a:buNone/>
                      </a:pPr>
                      <a:r>
                        <a:rPr lang="en-US" sz="1400" b="1" dirty="0">
                          <a:solidFill>
                            <a:srgbClr val="101820"/>
                          </a:solidFill>
                        </a:rPr>
                        <a:t>CRE EXECUTE · Claude’s rebalance A 40 · C 35 · R 25</a:t>
                      </a:r>
                      <a:endParaRPr lang="en-US" sz="1400" dirty="0"/>
                    </a:p>
                  </a:txBody>
                  <a:tcPr marL="114300" marR="1143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E7ECE6"/>
                    </a:solidFill>
                  </a:tcPr>
                </a:tc>
                <a:tc>
                  <a:txBody>
                    <a:bodyPr/>
                    <a:lstStyle/>
                    <a:p>
                      <a:pPr indent="0" marL="0">
                        <a:buNone/>
                      </a:pPr>
                      <a:r>
                        <a:rPr lang="en-US" sz="1400" u="sng" dirty="0">
                          <a:solidFill>
                            <a:srgbClr val="0B7A5C"/>
                          </a:solidFill>
                          <a:latin typeface="Courier New" pitchFamily="34" charset="0"/>
                          <a:ea typeface="Courier New" pitchFamily="34" charset="-122"/>
                          <a:cs typeface="Courier New" pitchFamily="34" charset="-120"/>
                          <a:hlinkClick r:id="rId4" invalidUrl="" action="" tgtFrame="" tooltip="View on Sepolia Etherscan" history="1" highlightClick="0" endSnd="0">
                            <a:extLst>
                              <a:ext uri="{A12FA001-AC4F-418D-AE19-62706E023703}">
                                <ahyp:hlinkClr xmlns:ahyp="http://schemas.microsoft.com/office/drawing/2018/hyperlinkcolor" val="tx"/>
                              </a:ext>
                            </a:extLst>
                          </a:hlinkClick>
                        </a:rPr>
                        <a:t>0x2d8a4366…41d5</a:t>
                      </a:r>
                      <a:endParaRPr lang="en-US" sz="1400" dirty="0">
                        <a:latin typeface="Courier New" charset="0"/>
                        <a:ea typeface="Courier New" charset="0"/>
                        <a:cs typeface="Courier New" charset="0"/>
                      </a:endParaRPr>
                    </a:p>
                  </a:txBody>
                  <a:tcPr marL="114300" marR="1143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E7ECE6"/>
                    </a:solidFill>
                  </a:tcPr>
                </a:tc>
              </a:tr>
              <a:tr h="508000">
                <a:tc>
                  <a:txBody>
                    <a:bodyPr/>
                    <a:lstStyle/>
                    <a:p>
                      <a:pPr indent="0" marL="0">
                        <a:buNone/>
                      </a:pPr>
                      <a:r>
                        <a:rPr lang="en-US" sz="1400" b="1" dirty="0">
                          <a:solidFill>
                            <a:srgbClr val="101820"/>
                          </a:solidFill>
                        </a:rPr>
                        <a:t>CRE VERIFY · risk restored, B 48 → 34</a:t>
                      </a:r>
                      <a:endParaRPr lang="en-US" sz="1400" dirty="0"/>
                    </a:p>
                  </a:txBody>
                  <a:tcPr marL="114300" marR="1143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3F5F2"/>
                    </a:solidFill>
                  </a:tcPr>
                </a:tc>
                <a:tc>
                  <a:txBody>
                    <a:bodyPr/>
                    <a:lstStyle/>
                    <a:p>
                      <a:pPr indent="0" marL="0">
                        <a:buNone/>
                      </a:pPr>
                      <a:r>
                        <a:rPr lang="en-US" sz="1400" u="sng" dirty="0">
                          <a:solidFill>
                            <a:srgbClr val="0B7A5C"/>
                          </a:solidFill>
                          <a:latin typeface="Courier New" pitchFamily="34" charset="0"/>
                          <a:ea typeface="Courier New" pitchFamily="34" charset="-122"/>
                          <a:cs typeface="Courier New" pitchFamily="34" charset="-120"/>
                          <a:hlinkClick r:id="rId5" invalidUrl="" action="" tgtFrame="" tooltip="View on Sepolia Etherscan" history="1" highlightClick="0" endSnd="0">
                            <a:extLst>
                              <a:ext uri="{A12FA001-AC4F-418D-AE19-62706E023703}">
                                <ahyp:hlinkClr xmlns:ahyp="http://schemas.microsoft.com/office/drawing/2018/hyperlinkcolor" val="tx"/>
                              </a:ext>
                            </a:extLst>
                          </a:hlinkClick>
                        </a:rPr>
                        <a:t>0xd4fc8b94…b59f</a:t>
                      </a:r>
                      <a:endParaRPr lang="en-US" sz="1400" dirty="0">
                        <a:latin typeface="Courier New" charset="0"/>
                        <a:ea typeface="Courier New" charset="0"/>
                        <a:cs typeface="Courier New" charset="0"/>
                      </a:endParaRPr>
                    </a:p>
                  </a:txBody>
                  <a:tcPr marL="114300" marR="1143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3F5F2"/>
                    </a:solidFill>
                  </a:tcPr>
                </a:tc>
              </a:tr>
            </a:tbl>
          </a:graphicData>
        </a:graphic>
      </p:graphicFrame>
      <p:sp>
        <p:nvSpPr>
          <p:cNvPr id="5" name="Footer"/>
          <p:cNvSpPr txBox="1"/>
          <p:nvPr/>
        </p:nvSpPr>
        <p:spPr>
          <a:xfrm>
            <a:off x="812800" y="6045200"/>
            <a:ext cx="10566400" cy="254000"/>
          </a:xfrm>
          <a:prstGeom prst="rect">
            <a:avLst/>
          </a:prstGeom>
          <a:noFill/>
          <a:ln/>
        </p:spPr>
        <p:txBody>
          <a:bodyPr wrap="square" lIns="0" tIns="0" rIns="0" bIns="0" rtlCol="0" anchor="t"/>
          <a:lstStyle/>
          <a:p>
            <a:pPr algn="l" indent="0" marL="0">
              <a:buNone/>
            </a:pPr>
            <a:r>
              <a:rPr lang="en-US" sz="1200" dirty="0">
                <a:solidFill>
                  <a:srgbClr val="4A5568"/>
                </a:solidFill>
              </a:rPr>
              <a:t>CRE reports delivered via the Keystone forwarder to KriyaExecutor 0x9c5f…656A · logged onchain as source = CRE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812800" y="812800"/>
            <a:ext cx="10566400" cy="228600"/>
          </a:xfrm>
          <a:prstGeom prst="rect">
            <a:avLst/>
          </a:prstGeom>
          <a:noFill/>
          <a:ln/>
        </p:spPr>
        <p:txBody>
          <a:bodyPr wrap="square" lIns="0" tIns="0" rIns="0" bIns="0" rtlCol="0" anchor="t"/>
          <a:lstStyle/>
          <a:p>
            <a:pPr algn="l" indent="0" marL="0">
              <a:buNone/>
            </a:pPr>
            <a:r>
              <a:rPr lang="en-US" sz="1200" spc="150" kern="0" dirty="0">
                <a:solidFill>
                  <a:schemeClr val="accent1"/>
                </a:solidFill>
                <a:latin typeface="Courier New" pitchFamily="34" charset="0"/>
                <a:ea typeface="Courier New" pitchFamily="34" charset="-122"/>
                <a:cs typeface="Courier New" pitchFamily="34" charset="-120"/>
              </a:rPr>
              <a:t>WHAT WE BUILT</a:t>
            </a:r>
            <a:endParaRPr lang="en-US" sz="1200" dirty="0"/>
          </a:p>
        </p:txBody>
      </p:sp>
      <p:sp>
        <p:nvSpPr>
          <p:cNvPr id="3" name="Text 0"/>
          <p:cNvSpPr/>
          <p:nvPr>
            <p:ph idx="100" type="title" hasCustomPrompt="1"/>
          </p:nvPr>
        </p:nvSpPr>
        <p:spPr>
          <a:xfrm>
            <a:off x="812800" y="1117600"/>
            <a:ext cx="10566400" cy="1143000"/>
          </a:xfrm>
          <a:prstGeom prst="rect">
            <a:avLst/>
          </a:prstGeom>
          <a:noFill/>
          <a:ln/>
        </p:spPr>
        <p:txBody>
          <a:bodyPr wrap="square" lIns="0" tIns="0" rIns="0" bIns="0" rtlCol="0" anchor="t"/>
          <a:lstStyle/>
          <a:p>
            <a:pPr algn="l" indent="0" marL="0">
              <a:buNone/>
            </a:pPr>
            <a:r>
              <a:rPr lang="en-US" sz="3600" b="1" dirty="0">
                <a:solidFill>
                  <a:srgbClr val="EEF2F6"/>
                </a:solidFill>
              </a:rPr>
              <a:t>One vertical slice, end to end</a:t>
            </a:r>
            <a:endParaRPr lang="en-US" sz="3600" dirty="0"/>
          </a:p>
        </p:txBody>
      </p:sp>
      <p:sp>
        <p:nvSpPr>
          <p:cNvPr id="4" name="Contracts card"/>
          <p:cNvSpPr/>
          <p:nvPr/>
        </p:nvSpPr>
        <p:spPr>
          <a:xfrm>
            <a:off x="812800" y="2095500"/>
            <a:ext cx="2489200" cy="3175000"/>
          </a:xfrm>
          <a:prstGeom prst="roundRect">
            <a:avLst>
              <a:gd name="adj" fmla="val 5102"/>
            </a:avLst>
          </a:prstGeom>
          <a:solidFill>
            <a:srgbClr val="141A22"/>
          </a:solidFill>
          <a:ln w="9525">
            <a:solidFill>
              <a:srgbClr val="263040"/>
            </a:solidFill>
            <a:prstDash val="solid"/>
          </a:ln>
        </p:spPr>
      </p:sp>
      <p:sp>
        <p:nvSpPr>
          <p:cNvPr id="5" name="Contracts badge"/>
          <p:cNvSpPr/>
          <p:nvPr/>
        </p:nvSpPr>
        <p:spPr>
          <a:xfrm>
            <a:off x="1066800" y="2349500"/>
            <a:ext cx="533400" cy="533400"/>
          </a:xfrm>
          <a:prstGeom prst="ellipse">
            <a:avLst/>
          </a:prstGeom>
          <a:solidFill>
            <a:srgbClr val="7CF7C4"/>
          </a:solidFill>
          <a:ln/>
        </p:spPr>
      </p:sp>
      <p:sp>
        <p:nvSpPr>
          <p:cNvPr id="6" name="Text 4"/>
          <p:cNvSpPr txBox="1"/>
          <p:nvPr/>
        </p:nvSpPr>
        <p:spPr>
          <a:xfrm>
            <a:off x="1066800" y="2349500"/>
            <a:ext cx="533400" cy="533400"/>
          </a:xfrm>
          <a:prstGeom prst="rect">
            <a:avLst/>
          </a:prstGeom>
          <a:noFill/>
          <a:ln/>
        </p:spPr>
        <p:txBody>
          <a:bodyPr wrap="square" lIns="0" tIns="0" rIns="0" bIns="0" rtlCol="0" anchor="ctr"/>
          <a:lstStyle/>
          <a:p>
            <a:pPr algn="ctr" indent="0" marL="0">
              <a:buNone/>
            </a:pPr>
            <a:r>
              <a:rPr lang="en-US" sz="1500" b="1" dirty="0">
                <a:solidFill>
                  <a:srgbClr val="0B0F14"/>
                </a:solidFill>
                <a:latin typeface="Courier New" pitchFamily="34" charset="0"/>
                <a:ea typeface="Courier New" pitchFamily="34" charset="-122"/>
                <a:cs typeface="Courier New" pitchFamily="34" charset="-120"/>
              </a:rPr>
              <a:t>01</a:t>
            </a:r>
            <a:endParaRPr lang="en-US" sz="1500" dirty="0"/>
          </a:p>
        </p:txBody>
      </p:sp>
      <p:sp>
        <p:nvSpPr>
          <p:cNvPr id="7" name="Text 5"/>
          <p:cNvSpPr txBox="1"/>
          <p:nvPr/>
        </p:nvSpPr>
        <p:spPr>
          <a:xfrm>
            <a:off x="1066800" y="3111500"/>
            <a:ext cx="1981200" cy="355600"/>
          </a:xfrm>
          <a:prstGeom prst="rect">
            <a:avLst/>
          </a:prstGeom>
          <a:noFill/>
          <a:ln/>
        </p:spPr>
        <p:txBody>
          <a:bodyPr wrap="square" lIns="0" tIns="0" rIns="0" bIns="0" rtlCol="0" anchor="t"/>
          <a:lstStyle/>
          <a:p>
            <a:pPr algn="l" indent="0" marL="0">
              <a:buNone/>
            </a:pPr>
            <a:r>
              <a:rPr lang="en-US" sz="1800" b="1" dirty="0">
                <a:solidFill>
                  <a:srgbClr val="EEF2F6"/>
                </a:solidFill>
              </a:rPr>
              <a:t>Contracts</a:t>
            </a:r>
            <a:endParaRPr lang="en-US" sz="1800" dirty="0"/>
          </a:p>
        </p:txBody>
      </p:sp>
      <p:sp>
        <p:nvSpPr>
          <p:cNvPr id="8" name="Text 6"/>
          <p:cNvSpPr txBox="1"/>
          <p:nvPr/>
        </p:nvSpPr>
        <p:spPr>
          <a:xfrm>
            <a:off x="1066800" y="3594100"/>
            <a:ext cx="1981200" cy="1397000"/>
          </a:xfrm>
          <a:prstGeom prst="rect">
            <a:avLst/>
          </a:prstGeom>
          <a:noFill/>
          <a:ln/>
        </p:spPr>
        <p:txBody>
          <a:bodyPr wrap="square" lIns="0" tIns="0" rIns="0" bIns="0" rtlCol="0" anchor="t"/>
          <a:lstStyle/>
          <a:p>
            <a:pPr algn="l" indent="0" marL="0">
              <a:lnSpc>
                <a:spcPct val="130000"/>
              </a:lnSpc>
              <a:buNone/>
            </a:pPr>
            <a:r>
              <a:rPr lang="en-US" sz="1300" dirty="0">
                <a:solidFill>
                  <a:srgbClr val="9AA8BA"/>
                </a:solidFill>
              </a:rPr>
              <a:t>Vault, Mandate, Executor, Registry. 23 Foundry tests, incl. 1,000-run fuzz.</a:t>
            </a:r>
            <a:endParaRPr lang="en-US" sz="1300" dirty="0"/>
          </a:p>
        </p:txBody>
      </p:sp>
      <p:sp>
        <p:nvSpPr>
          <p:cNvPr id="9" name="Chainlink CRE card"/>
          <p:cNvSpPr/>
          <p:nvPr/>
        </p:nvSpPr>
        <p:spPr>
          <a:xfrm>
            <a:off x="3505200" y="2095500"/>
            <a:ext cx="2489200" cy="3175000"/>
          </a:xfrm>
          <a:prstGeom prst="roundRect">
            <a:avLst>
              <a:gd name="adj" fmla="val 5102"/>
            </a:avLst>
          </a:prstGeom>
          <a:solidFill>
            <a:srgbClr val="141A22"/>
          </a:solidFill>
          <a:ln w="9525">
            <a:solidFill>
              <a:srgbClr val="263040"/>
            </a:solidFill>
            <a:prstDash val="solid"/>
          </a:ln>
        </p:spPr>
      </p:sp>
      <p:sp>
        <p:nvSpPr>
          <p:cNvPr id="10" name="Chainlink CRE badge"/>
          <p:cNvSpPr/>
          <p:nvPr/>
        </p:nvSpPr>
        <p:spPr>
          <a:xfrm>
            <a:off x="3759200" y="2349500"/>
            <a:ext cx="533400" cy="533400"/>
          </a:xfrm>
          <a:prstGeom prst="ellipse">
            <a:avLst/>
          </a:prstGeom>
          <a:solidFill>
            <a:srgbClr val="5AA8FF"/>
          </a:solidFill>
          <a:ln/>
        </p:spPr>
      </p:sp>
      <p:sp>
        <p:nvSpPr>
          <p:cNvPr id="11" name="Text 9"/>
          <p:cNvSpPr txBox="1"/>
          <p:nvPr/>
        </p:nvSpPr>
        <p:spPr>
          <a:xfrm>
            <a:off x="3759200" y="2349500"/>
            <a:ext cx="533400" cy="533400"/>
          </a:xfrm>
          <a:prstGeom prst="rect">
            <a:avLst/>
          </a:prstGeom>
          <a:noFill/>
          <a:ln/>
        </p:spPr>
        <p:txBody>
          <a:bodyPr wrap="square" lIns="0" tIns="0" rIns="0" bIns="0" rtlCol="0" anchor="ctr"/>
          <a:lstStyle/>
          <a:p>
            <a:pPr algn="ctr" indent="0" marL="0">
              <a:buNone/>
            </a:pPr>
            <a:r>
              <a:rPr lang="en-US" sz="1500" b="1" dirty="0">
                <a:solidFill>
                  <a:srgbClr val="0B0F14"/>
                </a:solidFill>
                <a:latin typeface="Courier New" pitchFamily="34" charset="0"/>
                <a:ea typeface="Courier New" pitchFamily="34" charset="-122"/>
                <a:cs typeface="Courier New" pitchFamily="34" charset="-120"/>
              </a:rPr>
              <a:t>02</a:t>
            </a:r>
            <a:endParaRPr lang="en-US" sz="1500" dirty="0"/>
          </a:p>
        </p:txBody>
      </p:sp>
      <p:sp>
        <p:nvSpPr>
          <p:cNvPr id="12" name="Text 10"/>
          <p:cNvSpPr txBox="1"/>
          <p:nvPr/>
        </p:nvSpPr>
        <p:spPr>
          <a:xfrm>
            <a:off x="3759200" y="3111500"/>
            <a:ext cx="1981200" cy="355600"/>
          </a:xfrm>
          <a:prstGeom prst="rect">
            <a:avLst/>
          </a:prstGeom>
          <a:noFill/>
          <a:ln/>
        </p:spPr>
        <p:txBody>
          <a:bodyPr wrap="square" lIns="0" tIns="0" rIns="0" bIns="0" rtlCol="0" anchor="t"/>
          <a:lstStyle/>
          <a:p>
            <a:pPr algn="l" indent="0" marL="0">
              <a:buNone/>
            </a:pPr>
            <a:r>
              <a:rPr lang="en-US" sz="1800" b="1" dirty="0">
                <a:solidFill>
                  <a:srgbClr val="EEF2F6"/>
                </a:solidFill>
              </a:rPr>
              <a:t>Chainlink CRE</a:t>
            </a:r>
            <a:endParaRPr lang="en-US" sz="1800" dirty="0"/>
          </a:p>
        </p:txBody>
      </p:sp>
      <p:sp>
        <p:nvSpPr>
          <p:cNvPr id="13" name="Text 11"/>
          <p:cNvSpPr txBox="1"/>
          <p:nvPr/>
        </p:nvSpPr>
        <p:spPr>
          <a:xfrm>
            <a:off x="3759200" y="3594100"/>
            <a:ext cx="1981200" cy="1397000"/>
          </a:xfrm>
          <a:prstGeom prst="rect">
            <a:avLst/>
          </a:prstGeom>
          <a:noFill/>
          <a:ln/>
        </p:spPr>
        <p:txBody>
          <a:bodyPr wrap="square" lIns="0" tIns="0" rIns="0" bIns="0" rtlCol="0" anchor="t"/>
          <a:lstStyle/>
          <a:p>
            <a:pPr algn="l" indent="0" marL="0">
              <a:lnSpc>
                <a:spcPct val="130000"/>
              </a:lnSpc>
              <a:buNone/>
            </a:pPr>
            <a:r>
              <a:rPr lang="en-US" sz="1300" dirty="0">
                <a:solidFill>
                  <a:srgbClr val="9AA8BA"/>
                </a:solidFill>
              </a:rPr>
              <a:t>TypeScript workflow → WASM. HTTP consensus, EVM reads, signed reports.</a:t>
            </a:r>
            <a:endParaRPr lang="en-US" sz="1300" dirty="0"/>
          </a:p>
        </p:txBody>
      </p:sp>
      <p:sp>
        <p:nvSpPr>
          <p:cNvPr id="14" name="Decision engine card"/>
          <p:cNvSpPr/>
          <p:nvPr/>
        </p:nvSpPr>
        <p:spPr>
          <a:xfrm>
            <a:off x="6197600" y="2095500"/>
            <a:ext cx="2489200" cy="3175000"/>
          </a:xfrm>
          <a:prstGeom prst="roundRect">
            <a:avLst>
              <a:gd name="adj" fmla="val 5102"/>
            </a:avLst>
          </a:prstGeom>
          <a:solidFill>
            <a:srgbClr val="141A22"/>
          </a:solidFill>
          <a:ln w="9525">
            <a:solidFill>
              <a:srgbClr val="263040"/>
            </a:solidFill>
            <a:prstDash val="solid"/>
          </a:ln>
        </p:spPr>
      </p:sp>
      <p:sp>
        <p:nvSpPr>
          <p:cNvPr id="15" name="Decision engine badge"/>
          <p:cNvSpPr/>
          <p:nvPr/>
        </p:nvSpPr>
        <p:spPr>
          <a:xfrm>
            <a:off x="6451600" y="2349500"/>
            <a:ext cx="533400" cy="533400"/>
          </a:xfrm>
          <a:prstGeom prst="ellipse">
            <a:avLst/>
          </a:prstGeom>
          <a:solidFill>
            <a:srgbClr val="C38BFF"/>
          </a:solidFill>
          <a:ln/>
        </p:spPr>
      </p:sp>
      <p:sp>
        <p:nvSpPr>
          <p:cNvPr id="16" name="Text 14"/>
          <p:cNvSpPr txBox="1"/>
          <p:nvPr/>
        </p:nvSpPr>
        <p:spPr>
          <a:xfrm>
            <a:off x="6451600" y="2349500"/>
            <a:ext cx="533400" cy="533400"/>
          </a:xfrm>
          <a:prstGeom prst="rect">
            <a:avLst/>
          </a:prstGeom>
          <a:noFill/>
          <a:ln/>
        </p:spPr>
        <p:txBody>
          <a:bodyPr wrap="square" lIns="0" tIns="0" rIns="0" bIns="0" rtlCol="0" anchor="ctr"/>
          <a:lstStyle/>
          <a:p>
            <a:pPr algn="ctr" indent="0" marL="0">
              <a:buNone/>
            </a:pPr>
            <a:r>
              <a:rPr lang="en-US" sz="1500" b="1" dirty="0">
                <a:solidFill>
                  <a:srgbClr val="0B0F14"/>
                </a:solidFill>
                <a:latin typeface="Courier New" pitchFamily="34" charset="0"/>
                <a:ea typeface="Courier New" pitchFamily="34" charset="-122"/>
                <a:cs typeface="Courier New" pitchFamily="34" charset="-120"/>
              </a:rPr>
              <a:t>03</a:t>
            </a:r>
            <a:endParaRPr lang="en-US" sz="1500" dirty="0"/>
          </a:p>
        </p:txBody>
      </p:sp>
      <p:sp>
        <p:nvSpPr>
          <p:cNvPr id="17" name="Text 15"/>
          <p:cNvSpPr txBox="1"/>
          <p:nvPr/>
        </p:nvSpPr>
        <p:spPr>
          <a:xfrm>
            <a:off x="6451600" y="3111500"/>
            <a:ext cx="1981200" cy="355600"/>
          </a:xfrm>
          <a:prstGeom prst="rect">
            <a:avLst/>
          </a:prstGeom>
          <a:noFill/>
          <a:ln/>
        </p:spPr>
        <p:txBody>
          <a:bodyPr wrap="square" lIns="0" tIns="0" rIns="0" bIns="0" rtlCol="0" anchor="t"/>
          <a:lstStyle/>
          <a:p>
            <a:pPr algn="l" indent="0" marL="0">
              <a:buNone/>
            </a:pPr>
            <a:r>
              <a:rPr lang="en-US" sz="1800" b="1" dirty="0">
                <a:solidFill>
                  <a:srgbClr val="EEF2F6"/>
                </a:solidFill>
              </a:rPr>
              <a:t>Decision engine</a:t>
            </a:r>
            <a:endParaRPr lang="en-US" sz="1800" dirty="0"/>
          </a:p>
        </p:txBody>
      </p:sp>
      <p:sp>
        <p:nvSpPr>
          <p:cNvPr id="18" name="Text 16"/>
          <p:cNvSpPr txBox="1"/>
          <p:nvPr/>
        </p:nvSpPr>
        <p:spPr>
          <a:xfrm>
            <a:off x="6451600" y="3594100"/>
            <a:ext cx="1981200" cy="1397000"/>
          </a:xfrm>
          <a:prstGeom prst="rect">
            <a:avLst/>
          </a:prstGeom>
          <a:noFill/>
          <a:ln/>
        </p:spPr>
        <p:txBody>
          <a:bodyPr wrap="square" lIns="0" tIns="0" rIns="0" bIns="0" rtlCol="0" anchor="t"/>
          <a:lstStyle/>
          <a:p>
            <a:pPr algn="l" indent="0" marL="0">
              <a:lnSpc>
                <a:spcPct val="130000"/>
              </a:lnSpc>
              <a:buNone/>
            </a:pPr>
            <a:r>
              <a:rPr lang="en-US" sz="1300" dirty="0">
                <a:solidFill>
                  <a:srgbClr val="9AA8BA"/>
                </a:solidFill>
              </a:rPr>
              <a:t>Claude Sonnet 5.5, schema-bound output, validated three times.</a:t>
            </a:r>
            <a:endParaRPr lang="en-US" sz="1300" dirty="0"/>
          </a:p>
        </p:txBody>
      </p:sp>
      <p:sp>
        <p:nvSpPr>
          <p:cNvPr id="19" name="Live app card"/>
          <p:cNvSpPr/>
          <p:nvPr/>
        </p:nvSpPr>
        <p:spPr>
          <a:xfrm>
            <a:off x="8890000" y="2095500"/>
            <a:ext cx="2489200" cy="3175000"/>
          </a:xfrm>
          <a:prstGeom prst="roundRect">
            <a:avLst>
              <a:gd name="adj" fmla="val 5102"/>
            </a:avLst>
          </a:prstGeom>
          <a:solidFill>
            <a:srgbClr val="141A22"/>
          </a:solidFill>
          <a:ln w="9525">
            <a:solidFill>
              <a:srgbClr val="263040"/>
            </a:solidFill>
            <a:prstDash val="solid"/>
          </a:ln>
        </p:spPr>
      </p:sp>
      <p:sp>
        <p:nvSpPr>
          <p:cNvPr id="20" name="Live app badge"/>
          <p:cNvSpPr/>
          <p:nvPr/>
        </p:nvSpPr>
        <p:spPr>
          <a:xfrm>
            <a:off x="9144000" y="2349500"/>
            <a:ext cx="533400" cy="533400"/>
          </a:xfrm>
          <a:prstGeom prst="ellipse">
            <a:avLst/>
          </a:prstGeom>
          <a:solidFill>
            <a:srgbClr val="FFB547"/>
          </a:solidFill>
          <a:ln/>
        </p:spPr>
      </p:sp>
      <p:sp>
        <p:nvSpPr>
          <p:cNvPr id="21" name="Text 19"/>
          <p:cNvSpPr txBox="1"/>
          <p:nvPr/>
        </p:nvSpPr>
        <p:spPr>
          <a:xfrm>
            <a:off x="9144000" y="2349500"/>
            <a:ext cx="533400" cy="533400"/>
          </a:xfrm>
          <a:prstGeom prst="rect">
            <a:avLst/>
          </a:prstGeom>
          <a:noFill/>
          <a:ln/>
        </p:spPr>
        <p:txBody>
          <a:bodyPr wrap="square" lIns="0" tIns="0" rIns="0" bIns="0" rtlCol="0" anchor="ctr"/>
          <a:lstStyle/>
          <a:p>
            <a:pPr algn="ctr" indent="0" marL="0">
              <a:buNone/>
            </a:pPr>
            <a:r>
              <a:rPr lang="en-US" sz="1500" b="1" dirty="0">
                <a:solidFill>
                  <a:srgbClr val="0B0F14"/>
                </a:solidFill>
                <a:latin typeface="Courier New" pitchFamily="34" charset="0"/>
                <a:ea typeface="Courier New" pitchFamily="34" charset="-122"/>
                <a:cs typeface="Courier New" pitchFamily="34" charset="-120"/>
              </a:rPr>
              <a:t>04</a:t>
            </a:r>
            <a:endParaRPr lang="en-US" sz="1500" dirty="0"/>
          </a:p>
        </p:txBody>
      </p:sp>
      <p:sp>
        <p:nvSpPr>
          <p:cNvPr id="22" name="Text 20"/>
          <p:cNvSpPr txBox="1"/>
          <p:nvPr/>
        </p:nvSpPr>
        <p:spPr>
          <a:xfrm>
            <a:off x="9144000" y="3111500"/>
            <a:ext cx="1981200" cy="355600"/>
          </a:xfrm>
          <a:prstGeom prst="rect">
            <a:avLst/>
          </a:prstGeom>
          <a:noFill/>
          <a:ln/>
        </p:spPr>
        <p:txBody>
          <a:bodyPr wrap="square" lIns="0" tIns="0" rIns="0" bIns="0" rtlCol="0" anchor="t"/>
          <a:lstStyle/>
          <a:p>
            <a:pPr algn="l" indent="0" marL="0">
              <a:buNone/>
            </a:pPr>
            <a:r>
              <a:rPr lang="en-US" sz="1800" b="1" dirty="0">
                <a:solidFill>
                  <a:srgbClr val="EEF2F6"/>
                </a:solidFill>
              </a:rPr>
              <a:t>Live app</a:t>
            </a:r>
            <a:endParaRPr lang="en-US" sz="1800" dirty="0"/>
          </a:p>
        </p:txBody>
      </p:sp>
      <p:sp>
        <p:nvSpPr>
          <p:cNvPr id="23" name="Text 21"/>
          <p:cNvSpPr txBox="1"/>
          <p:nvPr/>
        </p:nvSpPr>
        <p:spPr>
          <a:xfrm>
            <a:off x="9144000" y="3594100"/>
            <a:ext cx="1981200" cy="1397000"/>
          </a:xfrm>
          <a:prstGeom prst="rect">
            <a:avLst/>
          </a:prstGeom>
          <a:noFill/>
          <a:ln/>
        </p:spPr>
        <p:txBody>
          <a:bodyPr wrap="square" lIns="0" tIns="0" rIns="0" bIns="0" rtlCol="0" anchor="t"/>
          <a:lstStyle/>
          <a:p>
            <a:pPr algn="l" indent="0" marL="0">
              <a:lnSpc>
                <a:spcPct val="130000"/>
              </a:lnSpc>
              <a:buNone/>
            </a:pPr>
            <a:r>
              <a:rPr lang="en-US" sz="1300" dirty="0">
                <a:solidFill>
                  <a:srgbClr val="9AA8BA"/>
                </a:solidFill>
              </a:rPr>
              <a:t>Next.js on Vercel. 12 unit + 15 end-to-end tests, all in CI.</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
          <p:cNvSpPr txBox="1"/>
          <p:nvPr/>
        </p:nvSpPr>
        <p:spPr>
          <a:xfrm>
            <a:off x="812800" y="812800"/>
            <a:ext cx="10566400" cy="228600"/>
          </a:xfrm>
          <a:prstGeom prst="rect">
            <a:avLst/>
          </a:prstGeom>
          <a:noFill/>
          <a:ln/>
        </p:spPr>
        <p:txBody>
          <a:bodyPr wrap="square" lIns="0" tIns="0" rIns="0" bIns="0" rtlCol="0" anchor="t"/>
          <a:lstStyle/>
          <a:p>
            <a:pPr algn="l" indent="0" marL="0">
              <a:buNone/>
            </a:pPr>
            <a:r>
              <a:rPr lang="en-US" sz="1200" spc="150" kern="0" dirty="0">
                <a:solidFill>
                  <a:schemeClr val="accent5"/>
                </a:solidFill>
                <a:latin typeface="Courier New" pitchFamily="34" charset="0"/>
                <a:ea typeface="Courier New" pitchFamily="34" charset="-122"/>
                <a:cs typeface="Courier New" pitchFamily="34" charset="-120"/>
              </a:rPr>
              <a:t>WHY IT’S DIFFERENT</a:t>
            </a:r>
            <a:endParaRPr lang="en-US" sz="1200" dirty="0"/>
          </a:p>
        </p:txBody>
      </p:sp>
      <p:sp>
        <p:nvSpPr>
          <p:cNvPr id="3" name="Text 0"/>
          <p:cNvSpPr/>
          <p:nvPr>
            <p:ph idx="100" type="title" hasCustomPrompt="1"/>
          </p:nvPr>
        </p:nvSpPr>
        <p:spPr>
          <a:xfrm>
            <a:off x="812800" y="1117600"/>
            <a:ext cx="10566400" cy="1143000"/>
          </a:xfrm>
          <a:prstGeom prst="rect">
            <a:avLst/>
          </a:prstGeom>
          <a:noFill/>
          <a:ln/>
        </p:spPr>
        <p:txBody>
          <a:bodyPr wrap="square" lIns="0" tIns="0" rIns="0" bIns="0" rtlCol="0" anchor="t"/>
          <a:lstStyle/>
          <a:p>
            <a:pPr algn="l" indent="0" marL="0">
              <a:buNone/>
            </a:pPr>
            <a:r>
              <a:rPr lang="en-US" sz="3600" b="1" dirty="0">
                <a:solidFill>
                  <a:schemeClr val="tx2"/>
                </a:solidFill>
              </a:rPr>
              <a:t>Not another AI trading bot</a:t>
            </a:r>
            <a:endParaRPr lang="en-US" sz="3600" dirty="0"/>
          </a:p>
        </p:txBody>
      </p:sp>
      <p:graphicFrame>
        <p:nvGraphicFramePr>
          <p:cNvPr id="13" name="Comparison"/>
          <p:cNvGraphicFramePr>
            <a:graphicFrameLocks noGrp="1"/>
          </p:cNvGraphicFramePr>
          <p:nvPr>
            <p:extLst>
              <p:ext uri="{D42A27DB-BD31-4B8C-83A1-F6EECF244321}">
                <p14:modId xmlns:p14="http://schemas.microsoft.com/office/powerpoint/2010/main" val="1579011935"/>
              </p:ext>
            </p:extLst>
          </p:nvPr>
        </p:nvGraphicFramePr>
        <p:xfrm>
          <a:off x="812800" y="2095500"/>
          <a:ext cx="10566400" cy="914400"/>
        </p:xfrm>
        <a:graphic>
          <a:graphicData uri="http://schemas.openxmlformats.org/drawingml/2006/table">
            <a:tbl>
              <a:tblPr/>
              <a:tblGrid>
                <a:gridCol w="5283200"/>
                <a:gridCol w="5283200"/>
              </a:tblGrid>
              <a:tr h="546100">
                <a:tc>
                  <a:txBody>
                    <a:bodyPr/>
                    <a:lstStyle/>
                    <a:p>
                      <a:pPr indent="0" marL="0">
                        <a:buNone/>
                      </a:pPr>
                      <a:r>
                        <a:rPr lang="en-US" sz="1600" b="1" dirty="0">
                          <a:solidFill>
                            <a:srgbClr val="9AA8BA"/>
                          </a:solidFill>
                        </a:rPr>
                        <a:t>Typical DeFi bot</a:t>
                      </a:r>
                      <a:endParaRPr lang="en-US" sz="16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101820"/>
                    </a:solidFill>
                  </a:tcPr>
                </a:tc>
                <a:tc>
                  <a:txBody>
                    <a:bodyPr/>
                    <a:lstStyle/>
                    <a:p>
                      <a:pPr indent="0" marL="0">
                        <a:buNone/>
                      </a:pPr>
                      <a:r>
                        <a:rPr lang="en-US" sz="1600" b="1" dirty="0">
                          <a:solidFill>
                            <a:srgbClr val="7CF7C4"/>
                          </a:solidFill>
                        </a:rPr>
                        <a:t>KRIYA</a:t>
                      </a:r>
                      <a:endParaRPr lang="en-US" sz="16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101820"/>
                    </a:solidFill>
                  </a:tcPr>
                </a:tc>
              </a:tr>
              <a:tr h="546100">
                <a:tc>
                  <a:txBody>
                    <a:bodyPr/>
                    <a:lstStyle/>
                    <a:p>
                      <a:pPr indent="0" marL="0">
                        <a:buNone/>
                      </a:pPr>
                      <a:r>
                        <a:rPr lang="en-US" sz="1600" dirty="0">
                          <a:solidFill>
                            <a:srgbClr val="4A5568"/>
                          </a:solidFill>
                        </a:rPr>
                        <a:t>Executes predefined strategies</a:t>
                      </a:r>
                      <a:endParaRPr lang="en-US" sz="16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3F5F2"/>
                    </a:solidFill>
                  </a:tcPr>
                </a:tc>
                <a:tc>
                  <a:txBody>
                    <a:bodyPr/>
                    <a:lstStyle/>
                    <a:p>
                      <a:pPr indent="0" marL="0">
                        <a:buNone/>
                      </a:pPr>
                      <a:r>
                        <a:rPr lang="en-US" sz="1600" b="1" dirty="0">
                          <a:solidFill>
                            <a:srgbClr val="101820"/>
                          </a:solidFill>
                        </a:rPr>
                        <a:t>Optimizes toward an objective</a:t>
                      </a:r>
                      <a:endParaRPr lang="en-US" sz="16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3F5F2"/>
                    </a:solidFill>
                  </a:tcPr>
                </a:tc>
              </a:tr>
              <a:tr h="546100">
                <a:tc>
                  <a:txBody>
                    <a:bodyPr/>
                    <a:lstStyle/>
                    <a:p>
                      <a:pPr indent="0" marL="0">
                        <a:buNone/>
                      </a:pPr>
                      <a:r>
                        <a:rPr lang="en-US" sz="1600" dirty="0">
                          <a:solidFill>
                            <a:srgbClr val="4A5568"/>
                          </a:solidFill>
                        </a:rPr>
                        <a:t>User specifies transactions</a:t>
                      </a:r>
                      <a:endParaRPr lang="en-US" sz="16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E7ECE6"/>
                    </a:solidFill>
                  </a:tcPr>
                </a:tc>
                <a:tc>
                  <a:txBody>
                    <a:bodyPr/>
                    <a:lstStyle/>
                    <a:p>
                      <a:pPr indent="0" marL="0">
                        <a:buNone/>
                      </a:pPr>
                      <a:r>
                        <a:rPr lang="en-US" sz="1600" b="1" dirty="0">
                          <a:solidFill>
                            <a:srgbClr val="101820"/>
                          </a:solidFill>
                        </a:rPr>
                        <a:t>User specifies a mandate</a:t>
                      </a:r>
                      <a:endParaRPr lang="en-US" sz="16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E7ECE6"/>
                    </a:solidFill>
                  </a:tcPr>
                </a:tc>
              </a:tr>
              <a:tr h="546100">
                <a:tc>
                  <a:txBody>
                    <a:bodyPr/>
                    <a:lstStyle/>
                    <a:p>
                      <a:pPr indent="0" marL="0">
                        <a:buNone/>
                      </a:pPr>
                      <a:r>
                        <a:rPr lang="en-US" sz="1600" dirty="0">
                          <a:solidFill>
                            <a:srgbClr val="4A5568"/>
                          </a:solidFill>
                        </a:rPr>
                        <a:t>Static automation</a:t>
                      </a:r>
                      <a:endParaRPr lang="en-US" sz="16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3F5F2"/>
                    </a:solidFill>
                  </a:tcPr>
                </a:tc>
                <a:tc>
                  <a:txBody>
                    <a:bodyPr/>
                    <a:lstStyle/>
                    <a:p>
                      <a:pPr indent="0" marL="0">
                        <a:buNone/>
                      </a:pPr>
                      <a:r>
                        <a:rPr lang="en-US" sz="1600" b="1" dirty="0">
                          <a:solidFill>
                            <a:srgbClr val="101820"/>
                          </a:solidFill>
                        </a:rPr>
                        <a:t>Adaptive decision loop</a:t>
                      </a:r>
                      <a:endParaRPr lang="en-US" sz="16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3F5F2"/>
                    </a:solidFill>
                  </a:tcPr>
                </a:tc>
              </a:tr>
              <a:tr h="546100">
                <a:tc>
                  <a:txBody>
                    <a:bodyPr/>
                    <a:lstStyle/>
                    <a:p>
                      <a:pPr indent="0" marL="0">
                        <a:buNone/>
                      </a:pPr>
                      <a:r>
                        <a:rPr lang="en-US" sz="1600" dirty="0">
                          <a:solidFill>
                            <a:srgbClr val="4A5568"/>
                          </a:solidFill>
                        </a:rPr>
                        <a:t>AI may hold broad authority</a:t>
                      </a:r>
                      <a:endParaRPr lang="en-US" sz="16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E7ECE6"/>
                    </a:solidFill>
                  </a:tcPr>
                </a:tc>
                <a:tc>
                  <a:txBody>
                    <a:bodyPr/>
                    <a:lstStyle/>
                    <a:p>
                      <a:pPr indent="0" marL="0">
                        <a:buNone/>
                      </a:pPr>
                      <a:r>
                        <a:rPr lang="en-US" sz="1600" b="1" dirty="0">
                          <a:solidFill>
                            <a:srgbClr val="101820"/>
                          </a:solidFill>
                        </a:rPr>
                        <a:t>AI bounded by onchain constraints</a:t>
                      </a:r>
                      <a:endParaRPr lang="en-US" sz="16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E7ECE6"/>
                    </a:solidFill>
                  </a:tcPr>
                </a:tc>
              </a:tr>
              <a:tr h="546100">
                <a:tc>
                  <a:txBody>
                    <a:bodyPr/>
                    <a:lstStyle/>
                    <a:p>
                      <a:pPr indent="0" marL="0">
                        <a:buNone/>
                      </a:pPr>
                      <a:r>
                        <a:rPr lang="en-US" sz="1600" dirty="0">
                          <a:solidFill>
                            <a:srgbClr val="4A5568"/>
                          </a:solidFill>
                        </a:rPr>
                        <a:t>Manual strategy changes</a:t>
                      </a:r>
                      <a:endParaRPr lang="en-US" sz="16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3F5F2"/>
                    </a:solidFill>
                  </a:tcPr>
                </a:tc>
                <a:tc>
                  <a:txBody>
                    <a:bodyPr/>
                    <a:lstStyle/>
                    <a:p>
                      <a:pPr indent="0" marL="0">
                        <a:buNone/>
                      </a:pPr>
                      <a:r>
                        <a:rPr lang="en-US" sz="1600" b="1" dirty="0">
                          <a:solidFill>
                            <a:srgbClr val="101820"/>
                          </a:solidFill>
                        </a:rPr>
                        <a:t>Verified, autonomous reallocation</a:t>
                      </a:r>
                      <a:endParaRPr lang="en-US" sz="1600" dirty="0"/>
                    </a:p>
                  </a:txBody>
                  <a:tcPr marL="127000" marR="1270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3F5F2"/>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812800" y="812800"/>
            <a:ext cx="10566400" cy="228600"/>
          </a:xfrm>
          <a:prstGeom prst="rect">
            <a:avLst/>
          </a:prstGeom>
          <a:noFill/>
          <a:ln/>
        </p:spPr>
        <p:txBody>
          <a:bodyPr wrap="square" lIns="0" tIns="0" rIns="0" bIns="0" rtlCol="0" anchor="t"/>
          <a:lstStyle/>
          <a:p>
            <a:pPr algn="l" indent="0" marL="0">
              <a:buNone/>
            </a:pPr>
            <a:r>
              <a:rPr lang="en-US" sz="1200" spc="150" kern="0" dirty="0">
                <a:solidFill>
                  <a:schemeClr val="accent1"/>
                </a:solidFill>
                <a:latin typeface="Courier New" pitchFamily="34" charset="0"/>
                <a:ea typeface="Courier New" pitchFamily="34" charset="-122"/>
                <a:cs typeface="Courier New" pitchFamily="34" charset="-120"/>
              </a:rPr>
              <a:t>WHERE IT GOES</a:t>
            </a:r>
            <a:endParaRPr lang="en-US" sz="1200" dirty="0"/>
          </a:p>
        </p:txBody>
      </p:sp>
      <p:sp>
        <p:nvSpPr>
          <p:cNvPr id="3" name="Text 0"/>
          <p:cNvSpPr/>
          <p:nvPr>
            <p:ph idx="100" type="title" hasCustomPrompt="1"/>
          </p:nvPr>
        </p:nvSpPr>
        <p:spPr>
          <a:xfrm>
            <a:off x="812800" y="1117600"/>
            <a:ext cx="10566400" cy="1143000"/>
          </a:xfrm>
          <a:prstGeom prst="rect">
            <a:avLst/>
          </a:prstGeom>
          <a:noFill/>
          <a:ln/>
        </p:spPr>
        <p:txBody>
          <a:bodyPr wrap="square" lIns="0" tIns="0" rIns="0" bIns="0" rtlCol="0" anchor="t"/>
          <a:lstStyle/>
          <a:p>
            <a:pPr algn="l" indent="0" marL="0">
              <a:buNone/>
            </a:pPr>
            <a:r>
              <a:rPr lang="en-US" sz="3600" b="1" dirty="0">
                <a:solidFill>
                  <a:srgbClr val="EEF2F6"/>
                </a:solidFill>
              </a:rPr>
              <a:t>From an autonomous vault to an autonomous capital network</a:t>
            </a:r>
            <a:endParaRPr lang="en-US" sz="3600" dirty="0"/>
          </a:p>
        </p:txBody>
      </p:sp>
      <p:sp>
        <p:nvSpPr>
          <p:cNvPr id="4" name="Vision 1"/>
          <p:cNvSpPr txBox="1"/>
          <p:nvPr/>
        </p:nvSpPr>
        <p:spPr>
          <a:xfrm>
            <a:off x="812800" y="2730500"/>
            <a:ext cx="3420533" cy="889000"/>
          </a:xfrm>
          <a:prstGeom prst="roundRect">
            <a:avLst>
              <a:gd name="adj" fmla="val 11429"/>
            </a:avLst>
          </a:prstGeom>
          <a:solidFill>
            <a:srgbClr val="141A22"/>
          </a:solidFill>
          <a:ln w="9525">
            <a:solidFill>
              <a:srgbClr val="263040"/>
            </a:solidFill>
          </a:ln>
        </p:spPr>
        <p:txBody>
          <a:bodyPr wrap="square" lIns="177800" tIns="177800" rIns="177800" bIns="177800" rtlCol="0" anchor="ctr"/>
          <a:lstStyle/>
          <a:p>
            <a:pPr algn="l" indent="0" marL="0">
              <a:buNone/>
            </a:pPr>
            <a:r>
              <a:rPr lang="en-US" sz="1500" dirty="0">
                <a:solidFill>
                  <a:srgbClr val="EEF2F6"/>
                </a:solidFill>
              </a:rPr>
              <a:t>DAO treasury mandates</a:t>
            </a:r>
            <a:endParaRPr lang="en-US" sz="1500" dirty="0"/>
          </a:p>
        </p:txBody>
      </p:sp>
      <p:sp>
        <p:nvSpPr>
          <p:cNvPr id="5" name="Vision 2"/>
          <p:cNvSpPr txBox="1"/>
          <p:nvPr/>
        </p:nvSpPr>
        <p:spPr>
          <a:xfrm>
            <a:off x="4385733" y="2730500"/>
            <a:ext cx="3420533" cy="889000"/>
          </a:xfrm>
          <a:prstGeom prst="roundRect">
            <a:avLst>
              <a:gd name="adj" fmla="val 11429"/>
            </a:avLst>
          </a:prstGeom>
          <a:solidFill>
            <a:srgbClr val="141A22"/>
          </a:solidFill>
          <a:ln w="9525">
            <a:solidFill>
              <a:srgbClr val="263040"/>
            </a:solidFill>
          </a:ln>
        </p:spPr>
        <p:txBody>
          <a:bodyPr wrap="square" lIns="177800" tIns="177800" rIns="177800" bIns="177800" rtlCol="0" anchor="ctr"/>
          <a:lstStyle/>
          <a:p>
            <a:pPr algn="l" indent="0" marL="0">
              <a:buNone/>
            </a:pPr>
            <a:r>
              <a:rPr lang="en-US" sz="1500" dirty="0">
                <a:solidFill>
                  <a:srgbClr val="EEF2F6"/>
                </a:solidFill>
              </a:rPr>
              <a:t>Protocol-owned liquidity</a:t>
            </a:r>
            <a:endParaRPr lang="en-US" sz="1500" dirty="0"/>
          </a:p>
        </p:txBody>
      </p:sp>
      <p:sp>
        <p:nvSpPr>
          <p:cNvPr id="6" name="Vision 3"/>
          <p:cNvSpPr txBox="1"/>
          <p:nvPr/>
        </p:nvSpPr>
        <p:spPr>
          <a:xfrm>
            <a:off x="7958667" y="2730500"/>
            <a:ext cx="3420533" cy="889000"/>
          </a:xfrm>
          <a:prstGeom prst="roundRect">
            <a:avLst>
              <a:gd name="adj" fmla="val 11429"/>
            </a:avLst>
          </a:prstGeom>
          <a:solidFill>
            <a:srgbClr val="141A22"/>
          </a:solidFill>
          <a:ln w="9525">
            <a:solidFill>
              <a:srgbClr val="263040"/>
            </a:solidFill>
          </a:ln>
        </p:spPr>
        <p:txBody>
          <a:bodyPr wrap="square" lIns="177800" tIns="177800" rIns="177800" bIns="177800" rtlCol="0" anchor="ctr"/>
          <a:lstStyle/>
          <a:p>
            <a:pPr algn="l" indent="0" marL="0">
              <a:buNone/>
            </a:pPr>
            <a:r>
              <a:rPr lang="en-US" sz="1500" dirty="0">
                <a:solidFill>
                  <a:srgbClr val="EEF2F6"/>
                </a:solidFill>
              </a:rPr>
              <a:t>Strategy reputation</a:t>
            </a:r>
            <a:endParaRPr lang="en-US" sz="1500" dirty="0"/>
          </a:p>
        </p:txBody>
      </p:sp>
      <p:sp>
        <p:nvSpPr>
          <p:cNvPr id="7" name="Vision 4"/>
          <p:cNvSpPr txBox="1"/>
          <p:nvPr/>
        </p:nvSpPr>
        <p:spPr>
          <a:xfrm>
            <a:off x="812800" y="3810000"/>
            <a:ext cx="3420533" cy="889000"/>
          </a:xfrm>
          <a:prstGeom prst="roundRect">
            <a:avLst>
              <a:gd name="adj" fmla="val 11429"/>
            </a:avLst>
          </a:prstGeom>
          <a:solidFill>
            <a:srgbClr val="141A22"/>
          </a:solidFill>
          <a:ln w="9525">
            <a:solidFill>
              <a:srgbClr val="263040"/>
            </a:solidFill>
          </a:ln>
        </p:spPr>
        <p:txBody>
          <a:bodyPr wrap="square" lIns="177800" tIns="177800" rIns="177800" bIns="177800" rtlCol="0" anchor="ctr"/>
          <a:lstStyle/>
          <a:p>
            <a:pPr algn="l" indent="0" marL="0">
              <a:buNone/>
            </a:pPr>
            <a:r>
              <a:rPr lang="en-US" sz="1500" dirty="0">
                <a:solidFill>
                  <a:srgbClr val="EEF2F6"/>
                </a:solidFill>
              </a:rPr>
              <a:t>Paid research via x402</a:t>
            </a:r>
            <a:endParaRPr lang="en-US" sz="1500" dirty="0"/>
          </a:p>
        </p:txBody>
      </p:sp>
      <p:sp>
        <p:nvSpPr>
          <p:cNvPr id="8" name="Vision 5"/>
          <p:cNvSpPr txBox="1"/>
          <p:nvPr/>
        </p:nvSpPr>
        <p:spPr>
          <a:xfrm>
            <a:off x="4385733" y="3810000"/>
            <a:ext cx="3420533" cy="889000"/>
          </a:xfrm>
          <a:prstGeom prst="roundRect">
            <a:avLst>
              <a:gd name="adj" fmla="val 11429"/>
            </a:avLst>
          </a:prstGeom>
          <a:solidFill>
            <a:srgbClr val="141A22"/>
          </a:solidFill>
          <a:ln w="9525">
            <a:solidFill>
              <a:srgbClr val="263040"/>
            </a:solidFill>
          </a:ln>
        </p:spPr>
        <p:txBody>
          <a:bodyPr wrap="square" lIns="177800" tIns="177800" rIns="177800" bIns="177800" rtlCol="0" anchor="ctr"/>
          <a:lstStyle/>
          <a:p>
            <a:pPr algn="l" indent="0" marL="0">
              <a:buNone/>
            </a:pPr>
            <a:r>
              <a:rPr lang="en-US" sz="1500" dirty="0">
                <a:solidFill>
                  <a:srgbClr val="EEF2F6"/>
                </a:solidFill>
              </a:rPr>
              <a:t>Cross-chain capital routing</a:t>
            </a:r>
            <a:endParaRPr lang="en-US" sz="1500" dirty="0"/>
          </a:p>
        </p:txBody>
      </p:sp>
      <p:sp>
        <p:nvSpPr>
          <p:cNvPr id="9" name="Vision 6"/>
          <p:cNvSpPr txBox="1"/>
          <p:nvPr/>
        </p:nvSpPr>
        <p:spPr>
          <a:xfrm>
            <a:off x="7958667" y="3810000"/>
            <a:ext cx="3420533" cy="889000"/>
          </a:xfrm>
          <a:prstGeom prst="roundRect">
            <a:avLst>
              <a:gd name="adj" fmla="val 11429"/>
            </a:avLst>
          </a:prstGeom>
          <a:solidFill>
            <a:srgbClr val="141A22"/>
          </a:solidFill>
          <a:ln w="9525">
            <a:solidFill>
              <a:srgbClr val="263040"/>
            </a:solidFill>
          </a:ln>
        </p:spPr>
        <p:txBody>
          <a:bodyPr wrap="square" lIns="177800" tIns="177800" rIns="177800" bIns="177800" rtlCol="0" anchor="ctr"/>
          <a:lstStyle/>
          <a:p>
            <a:pPr algn="l" indent="0" marL="0">
              <a:buNone/>
            </a:pPr>
            <a:r>
              <a:rPr lang="en-US" sz="1500" dirty="0">
                <a:solidFill>
                  <a:srgbClr val="EEF2F6"/>
                </a:solidFill>
              </a:rPr>
              <a:t>Agent-to-agent capital markets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Builder card"/>
          <p:cNvSpPr/>
          <p:nvPr/>
        </p:nvSpPr>
        <p:spPr>
          <a:xfrm>
            <a:off x="812800" y="1270000"/>
            <a:ext cx="3937000" cy="4318000"/>
          </a:xfrm>
          <a:prstGeom prst="roundRect">
            <a:avLst>
              <a:gd name="adj" fmla="val 3871"/>
            </a:avLst>
          </a:prstGeom>
          <a:solidFill>
            <a:srgbClr val="101820"/>
          </a:solidFill>
          <a:ln/>
        </p:spPr>
      </p:sp>
      <p:sp>
        <p:nvSpPr>
          <p:cNvPr id="3" name="Avatar"/>
          <p:cNvSpPr/>
          <p:nvPr/>
        </p:nvSpPr>
        <p:spPr>
          <a:xfrm>
            <a:off x="1219200" y="1676400"/>
            <a:ext cx="914400" cy="914400"/>
          </a:xfrm>
          <a:prstGeom prst="ellipse">
            <a:avLst/>
          </a:prstGeom>
          <a:solidFill>
            <a:srgbClr val="7CF7C4"/>
          </a:solidFill>
          <a:ln/>
        </p:spPr>
      </p:sp>
      <p:sp>
        <p:nvSpPr>
          <p:cNvPr id="4" name="Text 2"/>
          <p:cNvSpPr txBox="1"/>
          <p:nvPr/>
        </p:nvSpPr>
        <p:spPr>
          <a:xfrm>
            <a:off x="1219200" y="1676400"/>
            <a:ext cx="914400" cy="914400"/>
          </a:xfrm>
          <a:prstGeom prst="rect">
            <a:avLst/>
          </a:prstGeom>
          <a:noFill/>
          <a:ln/>
        </p:spPr>
        <p:txBody>
          <a:bodyPr wrap="square" lIns="0" tIns="0" rIns="0" bIns="0" rtlCol="0" anchor="ctr"/>
          <a:lstStyle/>
          <a:p>
            <a:pPr algn="ctr" indent="0" marL="0">
              <a:buNone/>
            </a:pPr>
            <a:r>
              <a:rPr lang="en-US" sz="2800" b="1" dirty="0">
                <a:solidFill>
                  <a:srgbClr val="0B0F14"/>
                </a:solidFill>
              </a:rPr>
              <a:t>SN</a:t>
            </a:r>
            <a:endParaRPr lang="en-US" sz="2800" dirty="0"/>
          </a:p>
        </p:txBody>
      </p:sp>
      <p:sp>
        <p:nvSpPr>
          <p:cNvPr id="5" name="Text 3"/>
          <p:cNvSpPr txBox="1"/>
          <p:nvPr/>
        </p:nvSpPr>
        <p:spPr>
          <a:xfrm>
            <a:off x="1219200" y="2857500"/>
            <a:ext cx="3175000" cy="508000"/>
          </a:xfrm>
          <a:prstGeom prst="rect">
            <a:avLst/>
          </a:prstGeom>
          <a:noFill/>
          <a:ln/>
        </p:spPr>
        <p:txBody>
          <a:bodyPr wrap="square" lIns="0" tIns="0" rIns="0" bIns="0" rtlCol="0" anchor="t"/>
          <a:lstStyle/>
          <a:p>
            <a:pPr algn="l" indent="0" marL="0">
              <a:buNone/>
            </a:pPr>
            <a:r>
              <a:rPr lang="en-US" sz="3200" b="1" dirty="0">
                <a:solidFill>
                  <a:srgbClr val="EEF2F6"/>
                </a:solidFill>
              </a:rPr>
              <a:t>Saurabh</a:t>
            </a:r>
            <a:endParaRPr lang="en-US" sz="3200" dirty="0"/>
          </a:p>
        </p:txBody>
      </p:sp>
      <p:sp>
        <p:nvSpPr>
          <p:cNvPr id="6" name="Text 4"/>
          <p:cNvSpPr txBox="1"/>
          <p:nvPr/>
        </p:nvSpPr>
        <p:spPr>
          <a:xfrm>
            <a:off x="1219200" y="3492500"/>
            <a:ext cx="3175000" cy="304800"/>
          </a:xfrm>
          <a:prstGeom prst="rect">
            <a:avLst/>
          </a:prstGeom>
          <a:noFill/>
          <a:ln/>
        </p:spPr>
        <p:txBody>
          <a:bodyPr wrap="square" lIns="0" tIns="0" rIns="0" bIns="0" rtlCol="0" anchor="t"/>
          <a:lstStyle/>
          <a:p>
            <a:pPr algn="l" indent="0" marL="0">
              <a:buNone/>
            </a:pPr>
            <a:r>
              <a:rPr lang="en-US" sz="1600" dirty="0">
                <a:solidFill>
                  <a:schemeClr val="accent1"/>
                </a:solidFill>
              </a:rPr>
              <a:t>Solo builder</a:t>
            </a:r>
            <a:endParaRPr lang="en-US" sz="1600" dirty="0"/>
          </a:p>
        </p:txBody>
      </p:sp>
      <p:sp>
        <p:nvSpPr>
          <p:cNvPr id="7" name="GitHub"/>
          <p:cNvSpPr txBox="1"/>
          <p:nvPr/>
        </p:nvSpPr>
        <p:spPr>
          <a:xfrm>
            <a:off x="1219200" y="4000500"/>
            <a:ext cx="3302000" cy="254000"/>
          </a:xfrm>
          <a:prstGeom prst="rect">
            <a:avLst/>
          </a:prstGeom>
          <a:noFill/>
          <a:ln/>
        </p:spPr>
        <p:txBody>
          <a:bodyPr wrap="square" lIns="0" tIns="0" rIns="0" bIns="0" rtlCol="0" anchor="t"/>
          <a:lstStyle/>
          <a:p>
            <a:pPr algn="l" indent="0" marL="0">
              <a:buNone/>
            </a:pPr>
            <a:r>
              <a:rPr lang="en-US" sz="1300" dirty="0">
                <a:solidFill>
                  <a:srgbClr val="9AA8BA"/>
                </a:solidFill>
                <a:latin typeface="Courier New" pitchFamily="34" charset="0"/>
                <a:ea typeface="Courier New" pitchFamily="34" charset="-122"/>
                <a:cs typeface="Courier New" pitchFamily="34" charset="-120"/>
              </a:rPr>
              <a:t>github.com/Saurabhnage</a:t>
            </a:r>
            <a:endParaRPr lang="en-US" sz="1300" dirty="0"/>
          </a:p>
        </p:txBody>
      </p:sp>
      <p:sp>
        <p:nvSpPr>
          <p:cNvPr id="8" name="Eyebrow"/>
          <p:cNvSpPr txBox="1"/>
          <p:nvPr/>
        </p:nvSpPr>
        <p:spPr>
          <a:xfrm>
            <a:off x="5359400" y="1397000"/>
            <a:ext cx="6019800" cy="228600"/>
          </a:xfrm>
          <a:prstGeom prst="rect">
            <a:avLst/>
          </a:prstGeom>
          <a:noFill/>
          <a:ln/>
        </p:spPr>
        <p:txBody>
          <a:bodyPr wrap="square" lIns="0" tIns="0" rIns="0" bIns="0" rtlCol="0" anchor="t"/>
          <a:lstStyle/>
          <a:p>
            <a:pPr algn="l" indent="0" marL="0">
              <a:buNone/>
            </a:pPr>
            <a:r>
              <a:rPr lang="en-US" sz="1200" spc="150" kern="0" dirty="0">
                <a:solidFill>
                  <a:schemeClr val="accent5"/>
                </a:solidFill>
                <a:latin typeface="Courier New" pitchFamily="34" charset="0"/>
                <a:ea typeface="Courier New" pitchFamily="34" charset="-122"/>
                <a:cs typeface="Courier New" pitchFamily="34" charset="-120"/>
              </a:rPr>
              <a:t>TEAM</a:t>
            </a:r>
            <a:endParaRPr lang="en-US" sz="1200" dirty="0"/>
          </a:p>
        </p:txBody>
      </p:sp>
      <p:sp>
        <p:nvSpPr>
          <p:cNvPr id="9" name="Title"/>
          <p:cNvSpPr txBox="1"/>
          <p:nvPr/>
        </p:nvSpPr>
        <p:spPr>
          <a:xfrm>
            <a:off x="5359400" y="1714500"/>
            <a:ext cx="6019800" cy="571500"/>
          </a:xfrm>
          <a:prstGeom prst="rect">
            <a:avLst/>
          </a:prstGeom>
          <a:noFill/>
          <a:ln/>
        </p:spPr>
        <p:txBody>
          <a:bodyPr wrap="square" lIns="0" tIns="0" rIns="0" bIns="0" rtlCol="0" anchor="t"/>
          <a:lstStyle/>
          <a:p>
            <a:pPr algn="l" indent="0" marL="0">
              <a:buNone/>
            </a:pPr>
            <a:r>
              <a:rPr lang="en-US" sz="3600" b="1" dirty="0">
                <a:solidFill>
                  <a:schemeClr val="tx2"/>
                </a:solidFill>
              </a:rPr>
              <a:t>One builder, every layer</a:t>
            </a:r>
            <a:endParaRPr lang="en-US" sz="3600" dirty="0"/>
          </a:p>
        </p:txBody>
      </p:sp>
      <p:graphicFrame>
        <p:nvGraphicFramePr>
          <p:cNvPr id="15" name="Built"/>
          <p:cNvGraphicFramePr>
            <a:graphicFrameLocks noGrp="1"/>
          </p:cNvGraphicFramePr>
          <p:nvPr>
            <p:extLst>
              <p:ext uri="{D42A27DB-BD31-4B8C-83A1-F6EECF244321}">
                <p14:modId xmlns:p14="http://schemas.microsoft.com/office/powerpoint/2010/main" val="1579011935"/>
              </p:ext>
            </p:extLst>
          </p:nvPr>
        </p:nvGraphicFramePr>
        <p:xfrm>
          <a:off x="5359400" y="2667000"/>
          <a:ext cx="6019800" cy="914400"/>
        </p:xfrm>
        <a:graphic>
          <a:graphicData uri="http://schemas.openxmlformats.org/drawingml/2006/table">
            <a:tbl>
              <a:tblPr/>
              <a:tblGrid>
                <a:gridCol w="2095500"/>
                <a:gridCol w="3924300"/>
              </a:tblGrid>
              <a:tr h="635000">
                <a:tc>
                  <a:txBody>
                    <a:bodyPr/>
                    <a:lstStyle/>
                    <a:p>
                      <a:pPr indent="0" marL="0">
                        <a:buNone/>
                      </a:pPr>
                      <a:r>
                        <a:rPr lang="en-US" sz="1400" b="1" dirty="0">
                          <a:solidFill>
                            <a:srgbClr val="101820"/>
                          </a:solidFill>
                        </a:rPr>
                        <a:t>Smart contracts</a:t>
                      </a:r>
                      <a:endParaRPr lang="en-US" sz="1400" dirty="0"/>
                    </a:p>
                  </a:txBody>
                  <a:tcPr marL="114300" marR="1143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3F5F2"/>
                    </a:solidFill>
                  </a:tcPr>
                </a:tc>
                <a:tc>
                  <a:txBody>
                    <a:bodyPr/>
                    <a:lstStyle/>
                    <a:p>
                      <a:pPr indent="0" marL="0">
                        <a:buNone/>
                      </a:pPr>
                      <a:r>
                        <a:rPr lang="en-US" sz="1400" dirty="0">
                          <a:solidFill>
                            <a:srgbClr val="4A5568"/>
                          </a:solidFill>
                        </a:rPr>
                        <a:t>4 contracts · 23 tests incl. fuzzing</a:t>
                      </a:r>
                      <a:endParaRPr lang="en-US" sz="1400" dirty="0"/>
                    </a:p>
                  </a:txBody>
                  <a:tcPr marL="114300" marR="1143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3F5F2"/>
                    </a:solidFill>
                  </a:tcPr>
                </a:tc>
              </a:tr>
              <a:tr h="635000">
                <a:tc>
                  <a:txBody>
                    <a:bodyPr/>
                    <a:lstStyle/>
                    <a:p>
                      <a:pPr indent="0" marL="0">
                        <a:buNone/>
                      </a:pPr>
                      <a:r>
                        <a:rPr lang="en-US" sz="1400" b="1" dirty="0">
                          <a:solidFill>
                            <a:srgbClr val="101820"/>
                          </a:solidFill>
                        </a:rPr>
                        <a:t>Chainlink CRE</a:t>
                      </a:r>
                      <a:endParaRPr lang="en-US" sz="1400" dirty="0"/>
                    </a:p>
                  </a:txBody>
                  <a:tcPr marL="114300" marR="1143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E7ECE6"/>
                    </a:solidFill>
                  </a:tcPr>
                </a:tc>
                <a:tc>
                  <a:txBody>
                    <a:bodyPr/>
                    <a:lstStyle/>
                    <a:p>
                      <a:pPr indent="0" marL="0">
                        <a:buNone/>
                      </a:pPr>
                      <a:r>
                        <a:rPr lang="en-US" sz="1400" dirty="0">
                          <a:solidFill>
                            <a:srgbClr val="4A5568"/>
                          </a:solidFill>
                        </a:rPr>
                        <a:t>TypeScript workflow compiled to WASM</a:t>
                      </a:r>
                      <a:endParaRPr lang="en-US" sz="1400" dirty="0"/>
                    </a:p>
                  </a:txBody>
                  <a:tcPr marL="114300" marR="1143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E7ECE6"/>
                    </a:solidFill>
                  </a:tcPr>
                </a:tc>
              </a:tr>
              <a:tr h="635000">
                <a:tc>
                  <a:txBody>
                    <a:bodyPr/>
                    <a:lstStyle/>
                    <a:p>
                      <a:pPr indent="0" marL="0">
                        <a:buNone/>
                      </a:pPr>
                      <a:r>
                        <a:rPr lang="en-US" sz="1400" b="1" dirty="0">
                          <a:solidFill>
                            <a:srgbClr val="101820"/>
                          </a:solidFill>
                        </a:rPr>
                        <a:t>Decision engine</a:t>
                      </a:r>
                      <a:endParaRPr lang="en-US" sz="1400" dirty="0"/>
                    </a:p>
                  </a:txBody>
                  <a:tcPr marL="114300" marR="1143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3F5F2"/>
                    </a:solidFill>
                  </a:tcPr>
                </a:tc>
                <a:tc>
                  <a:txBody>
                    <a:bodyPr/>
                    <a:lstStyle/>
                    <a:p>
                      <a:pPr indent="0" marL="0">
                        <a:buNone/>
                      </a:pPr>
                      <a:r>
                        <a:rPr lang="en-US" sz="1400" dirty="0">
                          <a:solidFill>
                            <a:srgbClr val="4A5568"/>
                          </a:solidFill>
                        </a:rPr>
                        <a:t>Claude, checked by one shared policy</a:t>
                      </a:r>
                      <a:endParaRPr lang="en-US" sz="1400" dirty="0"/>
                    </a:p>
                  </a:txBody>
                  <a:tcPr marL="114300" marR="1143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3F5F2"/>
                    </a:solidFill>
                  </a:tcPr>
                </a:tc>
              </a:tr>
              <a:tr h="635000">
                <a:tc>
                  <a:txBody>
                    <a:bodyPr/>
                    <a:lstStyle/>
                    <a:p>
                      <a:pPr indent="0" marL="0">
                        <a:buNone/>
                      </a:pPr>
                      <a:r>
                        <a:rPr lang="en-US" sz="1400" b="1" dirty="0">
                          <a:solidFill>
                            <a:srgbClr val="101820"/>
                          </a:solidFill>
                        </a:rPr>
                        <a:t>Product</a:t>
                      </a:r>
                      <a:endParaRPr lang="en-US" sz="1400" dirty="0"/>
                    </a:p>
                  </a:txBody>
                  <a:tcPr marL="114300" marR="1143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E7ECE6"/>
                    </a:solidFill>
                  </a:tcPr>
                </a:tc>
                <a:tc>
                  <a:txBody>
                    <a:bodyPr/>
                    <a:lstStyle/>
                    <a:p>
                      <a:pPr indent="0" marL="0">
                        <a:buNone/>
                      </a:pPr>
                      <a:r>
                        <a:rPr lang="en-US" sz="1400" dirty="0">
                          <a:solidFill>
                            <a:srgbClr val="4A5568"/>
                          </a:solidFill>
                        </a:rPr>
                        <a:t>Live app · 15 end-to-end checks in CI</a:t>
                      </a:r>
                      <a:endParaRPr lang="en-US" sz="1400" dirty="0"/>
                    </a:p>
                  </a:txBody>
                  <a:tcPr marL="114300" marR="114300" marT="0" marB="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E7ECE6"/>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Closing line"/>
          <p:cNvSpPr txBox="1"/>
          <p:nvPr/>
        </p:nvSpPr>
        <p:spPr>
          <a:xfrm>
            <a:off x="812800" y="1587500"/>
            <a:ext cx="10160000" cy="2540000"/>
          </a:xfrm>
          <a:prstGeom prst="rect">
            <a:avLst/>
          </a:prstGeom>
          <a:noFill/>
          <a:ln/>
        </p:spPr>
        <p:txBody>
          <a:bodyPr wrap="square" lIns="0" tIns="0" rIns="0" bIns="0" rtlCol="0" anchor="t"/>
          <a:lstStyle/>
          <a:p>
            <a:pPr algn="l" indent="0" marL="0">
              <a:lnSpc>
                <a:spcPct val="110000"/>
              </a:lnSpc>
              <a:buNone/>
            </a:pPr>
            <a:r>
              <a:rPr lang="en-US" sz="4000" b="1" dirty="0">
                <a:solidFill>
                  <a:srgbClr val="EEF2F6"/>
                </a:solidFill>
              </a:rPr>
              <a:t>The user didn’t tell KRIYA what transaction to make. </a:t>
            </a:r>
            <a:pPr algn="l" indent="0" marL="0">
              <a:lnSpc>
                <a:spcPct val="110000"/>
              </a:lnSpc>
              <a:buNone/>
            </a:pPr>
            <a:r>
              <a:rPr lang="en-US" sz="4000" b="1" dirty="0">
                <a:solidFill>
                  <a:srgbClr val="7CF7C4"/>
                </a:solidFill>
              </a:rPr>
              <a:t>They told it what outcome they wanted.</a:t>
            </a:r>
            <a:endParaRPr lang="en-US" sz="4000" dirty="0"/>
          </a:p>
        </p:txBody>
      </p:sp>
      <p:sp>
        <p:nvSpPr>
          <p:cNvPr id="3" name="App link"/>
          <p:cNvSpPr txBox="1"/>
          <p:nvPr/>
        </p:nvSpPr>
        <p:spPr>
          <a:xfrm>
            <a:off x="812800" y="4572000"/>
            <a:ext cx="4826000" cy="317500"/>
          </a:xfrm>
          <a:prstGeom prst="rect">
            <a:avLst/>
          </a:prstGeom>
          <a:noFill/>
          <a:ln/>
        </p:spPr>
        <p:txBody>
          <a:bodyPr wrap="square" lIns="0" tIns="0" rIns="0" bIns="0" rtlCol="0" anchor="t"/>
          <a:lstStyle/>
          <a:p>
            <a:pPr algn="l" indent="0" marL="0">
              <a:buNone/>
            </a:pPr>
            <a:r>
              <a:rPr lang="en-US" sz="1500" dirty="0">
                <a:solidFill>
                  <a:srgbClr val="9AA8BA"/>
                </a:solidFill>
                <a:latin typeface="Courier New" pitchFamily="34" charset="0"/>
                <a:ea typeface="Courier New" pitchFamily="34" charset="-122"/>
                <a:cs typeface="Courier New" pitchFamily="34" charset="-120"/>
              </a:rPr>
              <a:t>App  </a:t>
            </a:r>
            <a:pPr algn="l" indent="0" marL="0">
              <a:buNone/>
            </a:pPr>
            <a:r>
              <a:rPr lang="en-US" sz="1500" u="sng" dirty="0">
                <a:solidFill>
                  <a:srgbClr val="5AA8FF"/>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kriya-beta.vercel.app</a:t>
            </a:r>
            <a:endParaRPr lang="en-US" sz="1500" dirty="0"/>
          </a:p>
        </p:txBody>
      </p:sp>
      <p:sp>
        <p:nvSpPr>
          <p:cNvPr id="4" name="Code link"/>
          <p:cNvSpPr txBox="1"/>
          <p:nvPr/>
        </p:nvSpPr>
        <p:spPr>
          <a:xfrm>
            <a:off x="5715000" y="4572000"/>
            <a:ext cx="5664200" cy="317500"/>
          </a:xfrm>
          <a:prstGeom prst="rect">
            <a:avLst/>
          </a:prstGeom>
          <a:noFill/>
          <a:ln/>
        </p:spPr>
        <p:txBody>
          <a:bodyPr wrap="square" lIns="0" tIns="0" rIns="0" bIns="0" rtlCol="0" anchor="t"/>
          <a:lstStyle/>
          <a:p>
            <a:pPr algn="l" indent="0" marL="0">
              <a:buNone/>
            </a:pPr>
            <a:r>
              <a:rPr lang="en-US" sz="1500" dirty="0">
                <a:solidFill>
                  <a:srgbClr val="9AA8BA"/>
                </a:solidFill>
                <a:latin typeface="Courier New" pitchFamily="34" charset="0"/>
                <a:ea typeface="Courier New" pitchFamily="34" charset="-122"/>
                <a:cs typeface="Courier New" pitchFamily="34" charset="-120"/>
              </a:rPr>
              <a:t>Code  </a:t>
            </a:r>
            <a:pPr algn="l" indent="0" marL="0">
              <a:buNone/>
            </a:pPr>
            <a:r>
              <a:rPr lang="en-US" sz="1500" u="sng" dirty="0">
                <a:solidFill>
                  <a:srgbClr val="5AA8FF"/>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github.com/Saurabhnage/kriya</a:t>
            </a:r>
            <a:endParaRPr lang="en-US" sz="1500" dirty="0"/>
          </a:p>
        </p:txBody>
      </p:sp>
      <p:sp>
        <p:nvSpPr>
          <p:cNvPr id="5" name="Footer"/>
          <p:cNvSpPr txBox="1"/>
          <p:nvPr/>
        </p:nvSpPr>
        <p:spPr>
          <a:xfrm>
            <a:off x="812800" y="6045200"/>
            <a:ext cx="10566400" cy="254000"/>
          </a:xfrm>
          <a:prstGeom prst="rect">
            <a:avLst/>
          </a:prstGeom>
          <a:noFill/>
          <a:ln/>
        </p:spPr>
        <p:txBody>
          <a:bodyPr wrap="square" lIns="0" tIns="0" rIns="0" bIns="0" rtlCol="0" anchor="t"/>
          <a:lstStyle/>
          <a:p>
            <a:pPr algn="l" indent="0" marL="0">
              <a:buNone/>
            </a:pPr>
            <a:r>
              <a:rPr lang="en-US" sz="1200" dirty="0">
                <a:solidFill>
                  <a:srgbClr val="9AA8BA"/>
                </a:solidFill>
                <a:latin typeface="Courier New" pitchFamily="34" charset="0"/>
                <a:ea typeface="Courier New" pitchFamily="34" charset="-122"/>
                <a:cs typeface="Courier New" pitchFamily="34" charset="-120"/>
              </a:rPr>
              <a:t>KRIYA · capital that understands an objective, stays inside its limits, and optimizes itself.</a:t>
            </a:r>
            <a:endParaRPr lang="en-US" sz="1200" dirty="0"/>
          </a:p>
        </p:txBody>
      </p:sp>
    </p:spTree>
  </p:cSld>
  <p:clrMapOvr>
    <a:masterClrMapping/>
  </p:clrMapOvr>
</p:sld>
</file>

<file path=ppt/theme/theme1.xml><?xml version="1.0" encoding="utf-8"?>
<a:theme xmlns:a="http://schemas.openxmlformats.org/drawingml/2006/main" name="KRIYA">
  <a:themeElements>
    <a:clrScheme name="KRIYA">
      <a:dk1>
        <a:srgbClr val="0B0F14"/>
      </a:dk1>
      <a:lt1>
        <a:srgbClr val="FFFFFF"/>
      </a:lt1>
      <a:dk2>
        <a:srgbClr val="101820"/>
      </a:dk2>
      <a:lt2>
        <a:srgbClr val="F3F5F2"/>
      </a:lt2>
      <a:accent1>
        <a:srgbClr val="7CF7C4"/>
      </a:accent1>
      <a:accent2>
        <a:srgbClr val="5AA8FF"/>
      </a:accent2>
      <a:accent3>
        <a:srgbClr val="C38BFF"/>
      </a:accent3>
      <a:accent4>
        <a:srgbClr val="FFB547"/>
      </a:accent4>
      <a:accent5>
        <a:srgbClr val="0B7A5C"/>
      </a:accent5>
      <a:accent6>
        <a:srgbClr val="FF5D6C"/>
      </a:accent6>
      <a:hlink>
        <a:srgbClr val="5AA8FF"/>
      </a:hlink>
      <a:folHlink>
        <a:srgbClr val="C38BFF"/>
      </a:folHlink>
    </a:clrScheme>
    <a:fontScheme name="KRIY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KRIYA — Autonomous Capital Protocol</dc:title>
  <dc:subject>PptxGenJS Presentation</dc:subject>
  <dc:creator>Saurabh</dc:creator>
  <cp:lastModifiedBy>Saurabh</cp:lastModifiedBy>
  <cp:revision>1</cp:revision>
  <dcterms:created xsi:type="dcterms:W3CDTF">2026-10-07T15:03:54Z</dcterms:created>
  <dcterms:modified xsi:type="dcterms:W3CDTF">2026-10-07T15:03:54Z</dcterms:modified>
</cp:coreProperties>
</file>